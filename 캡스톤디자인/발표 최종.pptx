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8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64376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안녕하세요. 저희 팀은 LLM과 Vision 기반 Go2의 자연어 작업 수행 및 예외상황 대응 시스템을</a:t>
            </a:r>
            <a:r>
              <a:rPr lang="ko-KR" altLang="en-US"/>
              <a:t> 계획하였습니다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/>
              <a:t>저희는 단순히 자연어로 로봇을 움직이는 것보다, 실제 환경에서 예상하지 못한 상황이 발생했을 때 로봇이 어떻게 대응할 것인가에 초점을 맞췄습니다.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기존 이동 로봇은 사용자가 직접 조종하거나, 목적지와 행동 순서를 미리 지정해서 동작하는 경우가 많습니다.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하지만 실제 환경에서는 목적지에 있어야 할 물체가 없거나, 이동 중 갑자기 경로가 막히는 상황이 발생할 수 있습니다.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저희는 여기서 핵심 문제를 자연어를 이해하는 것이 아니라, 현실의 변화에 유연하게 대응하지 못하는 것​으로 정의했습니다.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이를 해결하기 위해 LLM과 Vision을 활용한 </a:t>
            </a:r>
            <a:r>
              <a:rPr lang="ko-KR" altLang="en-US"/>
              <a:t>사족보행로봇 </a:t>
            </a:r>
            <a:r>
              <a:rPr lang="en-US"/>
              <a:t>시스템을 제안합니다.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사용자가 자연어로 복합적인 임무를 주면 LLM이 이를 이동, 탐색, 확인, 복귀와 같은 작업으로 분해하고 Go2가 순서대로 수행합니다.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Vision으로 현장을 확인하다 예상과 다른 상황이 발생하면, </a:t>
            </a:r>
            <a:r>
              <a:rPr lang="ko-KR" altLang="en-US"/>
              <a:t> 심각도에 따라 대응 방법을 달리합니다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예를 들어 물체를 한 번 찾지 못한 정도라면 다른 각도에서 자동으로 재탐색하고, 여러 번 탐색해도 찾지 못한다면 사용자에게 다음 행동을 확인합니다.</a:t>
            </a:r>
            <a:endParaRPr lang="en-US"/>
          </a:p>
          <a:p>
            <a:pPr lvl="0">
              <a:defRPr/>
            </a:pPr>
            <a:endParaRPr lang="en-US"/>
          </a:p>
          <a:p>
            <a:pPr marL="0" indent="0">
              <a:lnSpc>
                <a:spcPts val="2400"/>
              </a:lnSpc>
              <a:buNone/>
              <a:defRPr/>
            </a:pPr>
            <a:r>
              <a:rPr lang="en-US">
                <a:solidFill>
                  <a:schemeClr val="lt1"/>
                </a:solidFill>
              </a:rPr>
              <a:t>기본 대응으로 해결되지 않는 경우에는 </a:t>
            </a:r>
            <a:r>
              <a:rPr lang="ko-KR" altLang="en-US">
                <a:solidFill>
                  <a:schemeClr val="lt1"/>
                </a:solidFill>
              </a:rPr>
              <a:t>로봇의 </a:t>
            </a:r>
            <a:r>
              <a:rPr lang="en-US">
                <a:solidFill>
                  <a:schemeClr val="lt1"/>
                </a:solidFill>
              </a:rPr>
              <a:t>현재 상</a:t>
            </a:r>
            <a:r>
              <a:rPr lang="ko-KR" altLang="en-US">
                <a:solidFill>
                  <a:schemeClr val="lt1"/>
                </a:solidFill>
              </a:rPr>
              <a:t>태</a:t>
            </a:r>
            <a:r>
              <a:rPr lang="en-US">
                <a:solidFill>
                  <a:schemeClr val="lt1"/>
                </a:solidFill>
              </a:rPr>
              <a:t>과 기존 임무를 LLM에 전달하여 대안을 생성하고, </a:t>
            </a:r>
            <a:r>
              <a:rPr lang="ko-KR" alt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이를 사용자에게 제시합니다.</a:t>
            </a:r>
            <a:endParaRPr lang="en-US">
              <a:solidFill>
                <a:schemeClr val="lt1"/>
              </a:solidFill>
            </a:endParaRPr>
          </a:p>
          <a:p>
            <a:pPr marL="0" indent="0">
              <a:lnSpc>
                <a:spcPts val="2400"/>
              </a:lnSpc>
              <a:buNone/>
              <a:defRPr/>
            </a:pPr>
            <a:endParaRPr lang="en-US">
              <a:solidFill>
                <a:schemeClr val="lt1"/>
              </a:solidFill>
            </a:endParaRPr>
          </a:p>
          <a:p>
            <a:pPr marL="0" indent="0">
              <a:lnSpc>
                <a:spcPts val="2400"/>
              </a:lnSpc>
              <a:buNone/>
              <a:defRPr/>
            </a:pPr>
            <a:r>
              <a:rPr lang="en-US">
                <a:solidFill>
                  <a:schemeClr val="lt1"/>
                </a:solidFill>
              </a:rPr>
              <a:t>사용자가 대안을 승인하거나 수정하면 해당 피드백을 반영하여 새로운 계획으로 임무를 계속 수행합니다.</a:t>
            </a:r>
            <a:endParaRPr lang="en-US">
              <a:solidFill>
                <a:schemeClr val="lt1"/>
              </a:solidFill>
            </a:endParaRPr>
          </a:p>
          <a:p>
            <a:pPr marL="0" indent="0">
              <a:lnSpc>
                <a:spcPts val="2400"/>
              </a:lnSpc>
              <a:buNone/>
              <a:defRPr/>
            </a:pPr>
            <a:endParaRPr lang="en-US">
              <a:solidFill>
                <a:schemeClr val="lt1"/>
              </a:solidFill>
            </a:endParaRPr>
          </a:p>
          <a:p>
            <a:pPr marL="0" indent="0">
              <a:lnSpc>
                <a:spcPts val="2400"/>
              </a:lnSpc>
              <a:buNone/>
              <a:defRPr/>
            </a:pPr>
            <a:r>
              <a:rPr lang="ko-KR" altLang="en-US">
                <a:solidFill>
                  <a:schemeClr val="lt1"/>
                </a:solidFill>
              </a:rPr>
              <a:t>여기까지가 시스템의 흐름입니다</a:t>
            </a:r>
            <a:r>
              <a:rPr lang="en-US" altLang="ko-KR">
                <a:solidFill>
                  <a:schemeClr val="lt1"/>
                </a:solidFill>
              </a:rPr>
              <a:t>.</a:t>
            </a:r>
            <a:endParaRPr lang="en-US" altLang="ko-KR">
              <a:solidFill>
                <a:schemeClr val="lt1"/>
              </a:solidFill>
            </a:endParaRPr>
          </a:p>
          <a:p>
            <a:pPr marL="0" indent="0">
              <a:lnSpc>
                <a:spcPts val="2400"/>
              </a:lnSpc>
              <a:buNone/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시스템은 네 단계로 정량적으로 평가할 계획입니다.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먼저 자동 대응과 사용자 확인을 적절히 선택하는지를 Accuracy, Precision, Recall, F1-score​로 평가합니다.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이후 스스로 해결한 문제의 자동 복구 성공률, 사용자의 의견을 제대로 적용했는지 보는 ​피드백 반영 성공률, 마지막으로 전체 ​임무 성공률을 측정합니다.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이를 통해 LLM의 판단부터 실제 로봇 수행까지 단계별로 성능을 검증할 계획입니다.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3개월이라는 기간을 고려해 실험 공간은 하나로 한정하고, 목적지도 3개에서 5개 정도로 제한할 계획입니다.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예외상황 역시 물체 부재, 경로 차단, </a:t>
            </a:r>
            <a:r>
              <a:rPr lang="ko-KR" altLang="en-US"/>
              <a:t>언어적 </a:t>
            </a:r>
            <a:r>
              <a:rPr lang="en-US"/>
              <a:t>모호한 명령 세 가지에 집중합니다.</a:t>
            </a:r>
            <a:endParaRPr lang="en-US"/>
          </a:p>
          <a:p>
            <a:pPr lvl="0">
              <a:defRPr/>
            </a:pPr>
            <a:endParaRPr lang="en-US"/>
          </a:p>
          <a:p>
            <a:pPr lvl="0">
              <a:defRPr/>
            </a:pPr>
            <a:r>
              <a:rPr lang="en-US"/>
              <a:t>최종적으로 단순히 자연어로 움직이는 로봇이 아니라, 현장의 변화에 대응하고 필요할 때 사람과 협력하여 임무를 수정할 수 있는 로봇 시스템을 구현하고 정량적으로 검증하는 것이 목표입니다.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0f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d97706">
              <a:alpha val="16000"/>
            </a:srgbClr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2552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kern="0" spc="150">
                <a:solidFill>
                  <a:srgbClr val="9fc3d6"/>
                </a:solidFill>
                <a:latin typeface="Calibri"/>
                <a:ea typeface="Calibri"/>
                <a:cs typeface="Calibri"/>
              </a:rPr>
              <a:t>캡스톤디자인  |  팀 「수다」  |  2026. 09 – 12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4600"/>
              </a:lnSpc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LLM·Vision 기반 Go2의 자연어 </a:t>
            </a:r>
            <a:r>
              <a:rPr lang="ko-KR" alt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작업</a:t>
            </a: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수행 및</a:t>
            </a:r>
            <a:endParaRPr lang="en-US" sz="3400" b="1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marL="0" indent="0">
              <a:lnSpc>
                <a:spcPts val="4600"/>
              </a:lnSpc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예외 상황 대응 시스템</a:t>
            </a:r>
            <a:endParaRPr lang="en-US" sz="3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d2b"/>
                </a:solidFill>
                <a:latin typeface="Cambria"/>
                <a:ea typeface="Cambria"/>
                <a:cs typeface="Cambria"/>
              </a:rPr>
              <a:t>문제</a:t>
            </a:r>
            <a:endParaRPr lang="en-US" sz="270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기존 이동 로봇은 사용자가 직접 조종하거나, </a:t>
            </a:r>
            <a:r>
              <a:rPr lang="ko-KR" altLang="en-US" sz="15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사용자</a:t>
            </a:r>
            <a:r>
              <a:rPr lang="en-US" sz="15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가 목적지와 행동 순서를 미리 지정</a:t>
            </a:r>
            <a:r>
              <a:rPr lang="ko-KR" altLang="en-US" sz="15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하여 동작하는 경우가 많습니다</a:t>
            </a:r>
            <a:r>
              <a:rPr lang="en-US" altLang="ko-KR" sz="15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.</a:t>
            </a:r>
            <a:endParaRPr lang="en-US" altLang="ko-KR" sz="150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목적지에 물체가 없음</a:t>
            </a:r>
            <a:endParaRPr lang="en-US" sz="1700"/>
          </a:p>
        </p:txBody>
      </p:sp>
      <p:sp>
        <p:nvSpPr>
          <p:cNvPr id="11" name="Text 9"/>
          <p:cNvSpPr txBox="1"/>
          <p:nvPr/>
        </p:nvSpPr>
        <p:spPr>
          <a:xfrm>
            <a:off x="82296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탐색 대상이 예상과 다른 상태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이동 경로가 갑자기 막힘</a:t>
            </a:r>
            <a:endParaRPr lang="en-US" sz="1700"/>
          </a:p>
        </p:txBody>
      </p:sp>
      <p:sp>
        <p:nvSpPr>
          <p:cNvPr id="14" name="Text 12"/>
          <p:cNvSpPr txBox="1"/>
          <p:nvPr/>
        </p:nvSpPr>
        <p:spPr>
          <a:xfrm>
            <a:off x="644652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계획된 경로를 그대로 쓸 수 없음</a:t>
            </a:r>
            <a:endParaRPr lang="en-US" sz="125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이런 상황에서 고정된 명령만 수행하는 로봇은 임무를 계속 수행하기 어렵습니다.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0f1d2b"/>
          </a:solidFill>
          <a:ln w="6350">
            <a:solidFill>
              <a:srgbClr val="0f1d2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1100" b="1" kern="0" spc="150">
                <a:solidFill>
                  <a:srgbClr val="ffc97a"/>
                </a:solidFill>
                <a:latin typeface="Calibri"/>
                <a:ea typeface="Calibri"/>
                <a:cs typeface="Calibri"/>
              </a:rPr>
              <a:t>핵심 문제</a:t>
            </a:r>
            <a:endParaRPr lang="ko-KR" altLang="en-US" sz="1100" b="1" kern="0" spc="150">
              <a:solidFill>
                <a:srgbClr val="ffc9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68680" y="46634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3000"/>
              </a:lnSpc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“자연어를 못 알아듣는다”가 아니라</a:t>
            </a:r>
            <a:endParaRPr lang="en-US" sz="2100" b="1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marL="0" indent="0">
              <a:lnSpc>
                <a:spcPts val="3000"/>
              </a:lnSpc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“현실의 변화에 유연하게 대응하지 못한다”</a:t>
            </a:r>
            <a:endParaRPr lang="en-US" sz="2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d2b"/>
                </a:solidFill>
                <a:latin typeface="Cambria"/>
                <a:ea typeface="Cambria"/>
                <a:cs typeface="Cambria"/>
              </a:rPr>
              <a:t>제안</a:t>
            </a:r>
            <a:endParaRPr lang="en-US" sz="2700"/>
          </a:p>
        </p:txBody>
      </p:sp>
      <p:sp>
        <p:nvSpPr>
          <p:cNvPr id="8" name="Text 6"/>
          <p:cNvSpPr txBox="1"/>
          <p:nvPr/>
        </p:nvSpPr>
        <p:spPr>
          <a:xfrm>
            <a:off x="548640" y="12070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000"/>
              </a:lnSpc>
              <a:buNone/>
              <a:defRPr/>
            </a:pPr>
            <a:r>
              <a:rPr lang="en-US" sz="14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LLM과 Vision을 활용해 자연어 복합 명령을 이해하고, 예외의 심각도에 따라 스스로 해결하거나 사용자에게 확인받는 Go2 시스템을 제안합니다.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920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예시 명령  “빨간 지점을 지나 파란 지점으로 이동한 다음 노트북이 있는지 확인하고 돌아와”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777240" y="235915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이동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3108960" y="23591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3474720" y="235915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47472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탐색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5806440" y="23591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172200" y="235915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7220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확인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8503920" y="23591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8869680" y="2359152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6968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복귀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594359" y="361213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시스템 흐름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594359" y="400533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94359" y="400533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자연어</a:t>
            </a:r>
            <a:endParaRPr lang="en-US" sz="1250" b="1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명령</a:t>
            </a:r>
            <a:endParaRPr lang="en-US" sz="1250"/>
          </a:p>
        </p:txBody>
      </p:sp>
      <p:sp>
        <p:nvSpPr>
          <p:cNvPr id="25" name="Text 23"/>
          <p:cNvSpPr txBox="1"/>
          <p:nvPr/>
        </p:nvSpPr>
        <p:spPr>
          <a:xfrm>
            <a:off x="2377439" y="400533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26" name="Shape 24"/>
          <p:cNvSpPr/>
          <p:nvPr/>
        </p:nvSpPr>
        <p:spPr>
          <a:xfrm>
            <a:off x="2743199" y="400533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743199" y="400533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LLM</a:t>
            </a:r>
            <a:endParaRPr lang="en-US" sz="1250" b="1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작업 분해</a:t>
            </a:r>
            <a:endParaRPr lang="en-US" sz="1250"/>
          </a:p>
        </p:txBody>
      </p:sp>
      <p:sp>
        <p:nvSpPr>
          <p:cNvPr id="28" name="Text 26"/>
          <p:cNvSpPr txBox="1"/>
          <p:nvPr/>
        </p:nvSpPr>
        <p:spPr>
          <a:xfrm>
            <a:off x="4526279" y="400533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29" name="Shape 27"/>
          <p:cNvSpPr/>
          <p:nvPr/>
        </p:nvSpPr>
        <p:spPr>
          <a:xfrm>
            <a:off x="4892039" y="400533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892039" y="400533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Go2</a:t>
            </a:r>
            <a:endParaRPr lang="en-US" sz="1250" b="1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이동</a:t>
            </a:r>
            <a:endParaRPr lang="en-US" sz="1250"/>
          </a:p>
        </p:txBody>
      </p:sp>
      <p:sp>
        <p:nvSpPr>
          <p:cNvPr id="31" name="Text 29"/>
          <p:cNvSpPr txBox="1"/>
          <p:nvPr/>
        </p:nvSpPr>
        <p:spPr>
          <a:xfrm>
            <a:off x="6675119" y="400533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32" name="Shape 30"/>
          <p:cNvSpPr/>
          <p:nvPr/>
        </p:nvSpPr>
        <p:spPr>
          <a:xfrm>
            <a:off x="7040879" y="400533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040879" y="400533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Vision</a:t>
            </a:r>
            <a:endParaRPr lang="en-US" sz="1250" b="1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25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현장 확인</a:t>
            </a:r>
            <a:endParaRPr lang="en-US" sz="1250"/>
          </a:p>
        </p:txBody>
      </p:sp>
      <p:sp>
        <p:nvSpPr>
          <p:cNvPr id="34" name="Text 32"/>
          <p:cNvSpPr txBox="1"/>
          <p:nvPr/>
        </p:nvSpPr>
        <p:spPr>
          <a:xfrm>
            <a:off x="8823960" y="400533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35" name="Shape 33"/>
          <p:cNvSpPr/>
          <p:nvPr/>
        </p:nvSpPr>
        <p:spPr>
          <a:xfrm>
            <a:off x="9144000" y="400533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fceedd"/>
          </a:solidFill>
          <a:ln w="6350">
            <a:solidFill>
              <a:srgbClr val="fcee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9281160" y="407848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lnSpc>
                <a:spcPts val="1250"/>
              </a:lnSpc>
              <a:buNone/>
              <a:defRPr/>
            </a:pPr>
            <a:r>
              <a:rPr lang="en-US" sz="97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정상 → 다음 작업</a:t>
            </a:r>
            <a:endParaRPr lang="en-US" sz="97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250"/>
              </a:lnSpc>
              <a:buNone/>
              <a:defRPr/>
            </a:pPr>
            <a:r>
              <a:rPr lang="en-US" sz="97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이상 → 심각도 판단</a:t>
            </a:r>
            <a:endParaRPr lang="en-US" sz="97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250"/>
              </a:lnSpc>
              <a:buNone/>
              <a:defRPr/>
            </a:pPr>
            <a:r>
              <a:rPr lang="en-US" sz="97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 경미 → 자동 복구</a:t>
            </a:r>
            <a:endParaRPr lang="en-US" sz="970" b="1">
              <a:solidFill>
                <a:srgbClr val="1c7293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250"/>
              </a:lnSpc>
              <a:buNone/>
              <a:defRPr/>
            </a:pPr>
            <a:r>
              <a:rPr lang="en-US" sz="97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  심각 → 계획 + 확인</a:t>
            </a:r>
            <a:endParaRPr lang="en-US" sz="97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48640" y="1234440"/>
            <a:ext cx="3511296" cy="3255264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511296" cy="548640"/>
          </a:xfrm>
          <a:prstGeom prst="roundRect">
            <a:avLst>
              <a:gd name="adj" fmla="val 16364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물체 없음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13232" y="1892808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경미 · 자동 복구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>
          <a:xfrm>
            <a:off x="868680" y="22494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1~2회 재탐색 여지 있음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스스로 다른 각도에서 재탐색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713232" y="3191256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fceedd"/>
          </a:solidFill>
          <a:ln w="6350">
            <a:solidFill>
              <a:srgbClr val="fcee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심각 · 사용자 확인</a:t>
            </a:r>
            <a:endParaRPr lang="en-US" sz="1050"/>
          </a:p>
        </p:txBody>
      </p:sp>
      <p:sp>
        <p:nvSpPr>
          <p:cNvPr id="16" name="Text 14"/>
          <p:cNvSpPr txBox="1"/>
          <p:nvPr/>
        </p:nvSpPr>
        <p:spPr>
          <a:xfrm>
            <a:off x="868680" y="3547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여러 번 재탐색해도 없음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사용자에게 확인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279392" y="1234440"/>
            <a:ext cx="3511296" cy="3255264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79392" y="1234440"/>
            <a:ext cx="3511296" cy="548640"/>
          </a:xfrm>
          <a:prstGeom prst="roundRect">
            <a:avLst>
              <a:gd name="adj" fmla="val 16364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507992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경로 차단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443984" y="1892808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99432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경미 · 자동 복구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>
          <a:xfrm>
            <a:off x="4599432" y="22494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우회로가 분명함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스스로 다른 경로로 진행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443984" y="3191256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fceedd"/>
          </a:solidFill>
          <a:ln w="6350">
            <a:solidFill>
              <a:srgbClr val="fcee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599432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심각 · 사용자 확인</a:t>
            </a:r>
            <a:endParaRPr lang="en-US" sz="1050"/>
          </a:p>
        </p:txBody>
      </p:sp>
      <p:sp>
        <p:nvSpPr>
          <p:cNvPr id="25" name="Text 23"/>
          <p:cNvSpPr txBox="1"/>
          <p:nvPr/>
        </p:nvSpPr>
        <p:spPr>
          <a:xfrm>
            <a:off x="4599432" y="3547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우회로 불명확 · 위험함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사용자에게 확인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010144" y="1234440"/>
            <a:ext cx="3511296" cy="3255264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10144" y="1234440"/>
            <a:ext cx="3511296" cy="548640"/>
          </a:xfrm>
          <a:prstGeom prst="roundRect">
            <a:avLst>
              <a:gd name="adj" fmla="val 16364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38744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모호한 명령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174736" y="1892808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330184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경미 · 자동 복구</a:t>
            </a:r>
            <a:endParaRPr lang="en-US" sz="1050"/>
          </a:p>
        </p:txBody>
      </p:sp>
      <p:sp>
        <p:nvSpPr>
          <p:cNvPr id="31" name="Text 29"/>
          <p:cNvSpPr txBox="1"/>
          <p:nvPr/>
        </p:nvSpPr>
        <p:spPr>
          <a:xfrm>
            <a:off x="8330184" y="22494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후보가 하나로 좁혀짐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스스로 진행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8174736" y="3191256"/>
            <a:ext cx="3182112" cy="1188720"/>
          </a:xfrm>
          <a:prstGeom prst="roundRect">
            <a:avLst>
              <a:gd name="adj" fmla="val 8824"/>
            </a:avLst>
          </a:prstGeom>
          <a:solidFill>
            <a:srgbClr val="fceedd"/>
          </a:solidFill>
          <a:ln w="6350">
            <a:solidFill>
              <a:srgbClr val="fcee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8330184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50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심각 · 사용자 확인</a:t>
            </a:r>
            <a:endParaRPr lang="en-US" sz="1050"/>
          </a:p>
        </p:txBody>
      </p:sp>
      <p:sp>
        <p:nvSpPr>
          <p:cNvPr id="34" name="Text 32"/>
          <p:cNvSpPr txBox="1"/>
          <p:nvPr/>
        </p:nvSpPr>
        <p:spPr>
          <a:xfrm>
            <a:off x="8330184" y="3547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후보가 여럿 · 정보 부족</a:t>
            </a:r>
            <a:endParaRPr lang="en-US" sz="1350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400"/>
              </a:lnSpc>
              <a:buNone/>
              <a:defRPr/>
            </a:pPr>
            <a:r>
              <a:rPr lang="en-US" sz="135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→ 사용자에게 확인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48640" y="4626864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0f1d2b"/>
          </a:solidFill>
          <a:ln w="6350">
            <a:solidFill>
              <a:srgbClr val="0f1d2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83920" y="4924044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650">
                <a:solidFill>
                  <a:schemeClr val="lt1"/>
                </a:solidFill>
              </a:rPr>
              <a:t>기본 대응으로 해결되지 않는 경우에는 현재 </a:t>
            </a:r>
            <a:r>
              <a:rPr lang="ko-KR" altLang="en-US" sz="1650">
                <a:solidFill>
                  <a:schemeClr val="lt1"/>
                </a:solidFill>
              </a:rPr>
              <a:t>상태와</a:t>
            </a:r>
            <a:r>
              <a:rPr lang="en-US" sz="1650">
                <a:solidFill>
                  <a:schemeClr val="lt1"/>
                </a:solidFill>
              </a:rPr>
              <a:t> 기존 임무를 LLM에 전달하여 대안을 생성하고, </a:t>
            </a:r>
            <a:endParaRPr lang="en-US" sz="1650">
              <a:solidFill>
                <a:schemeClr val="lt1"/>
              </a:solidFill>
            </a:endParaRPr>
          </a:p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650">
                <a:solidFill>
                  <a:schemeClr val="lt1"/>
                </a:solidFill>
              </a:rPr>
              <a:t>이를 사용자에게 제시합니다.</a:t>
            </a:r>
            <a:endParaRPr lang="en-US" sz="1650">
              <a:solidFill>
                <a:schemeClr val="lt1"/>
              </a:solidFill>
            </a:endParaRPr>
          </a:p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650">
                <a:solidFill>
                  <a:schemeClr val="lt1"/>
                </a:solidFill>
              </a:rPr>
              <a:t>사용자가 대안을 승인하거나 수정하면 해당 피드백을 반영하여 새로운 계획으로 </a:t>
            </a:r>
            <a:r>
              <a:rPr lang="ko-KR" altLang="en-US" sz="1650">
                <a:solidFill>
                  <a:schemeClr val="lt1"/>
                </a:solidFill>
              </a:rPr>
              <a:t>작업을</a:t>
            </a:r>
            <a:r>
              <a:rPr lang="en-US" sz="1650">
                <a:solidFill>
                  <a:schemeClr val="lt1"/>
                </a:solidFill>
              </a:rPr>
              <a:t> 계속 수행합니다.</a:t>
            </a:r>
            <a:endParaRPr lang="en-US" sz="1650">
              <a:solidFill>
                <a:schemeClr val="lt1"/>
              </a:solidFill>
            </a:endParaRPr>
          </a:p>
        </p:txBody>
      </p:sp>
      <p:sp>
        <p:nvSpPr>
          <p:cNvPr id="38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700"/>
          </a:p>
        </p:txBody>
      </p:sp>
      <p:sp>
        <p:nvSpPr>
          <p:cNvPr id="40" name="Text 2"/>
          <p:cNvSpPr txBox="1"/>
          <p:nvPr/>
        </p:nvSpPr>
        <p:spPr>
          <a:xfrm>
            <a:off x="1143000" y="3474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d2b"/>
                </a:solidFill>
                <a:latin typeface="Cambria"/>
                <a:ea typeface="Cambria"/>
                <a:cs typeface="Cambria"/>
              </a:rPr>
              <a:t>제안</a:t>
            </a:r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altLang="ko-KR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altLang="ko-KR" sz="1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d2b"/>
                </a:solidFill>
                <a:latin typeface="Cambria"/>
                <a:ea typeface="Cambria"/>
                <a:cs typeface="Cambria"/>
              </a:rPr>
              <a:t>검증</a:t>
            </a:r>
            <a:endParaRPr lang="en-US" sz="2700"/>
          </a:p>
        </p:txBody>
      </p:sp>
      <p:sp>
        <p:nvSpPr>
          <p:cNvPr id="8" name="Text 6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000"/>
              </a:lnSpc>
              <a:buNone/>
              <a:defRPr/>
            </a:pPr>
            <a:r>
              <a:rPr lang="en-US" sz="1400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대응 결정 → 자동 대응 → 사람과의 상호작용 → 최종 임무까지, 네 단계로 나눠 평가합니다.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72100" cy="1965960"/>
          </a:xfrm>
          <a:prstGeom prst="roundRect">
            <a:avLst>
              <a:gd name="adj" fmla="val 4865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 sz="2200"/>
          </a:p>
        </p:txBody>
      </p:sp>
      <p:sp>
        <p:nvSpPr>
          <p:cNvPr id="10" name="Text 8"/>
          <p:cNvSpPr txBox="1"/>
          <p:nvPr/>
        </p:nvSpPr>
        <p:spPr>
          <a:xfrm>
            <a:off x="749808" y="1947672"/>
            <a:ext cx="4969764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500" b="1" kern="0" spc="3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① 대응 결정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749808" y="2313432"/>
            <a:ext cx="4969764" cy="621792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Accuracy · Precision</a:t>
            </a:r>
            <a:endParaRPr lang="en-US" sz="2000" b="1">
              <a:solidFill>
                <a:srgbClr val="0f1d2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2400"/>
              </a:lnSpc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Recall · F1</a:t>
            </a:r>
            <a:endParaRPr lang="en-US" sz="1700"/>
          </a:p>
        </p:txBody>
      </p:sp>
      <p:sp>
        <p:nvSpPr>
          <p:cNvPr id="12" name="Text 10"/>
          <p:cNvSpPr txBox="1"/>
          <p:nvPr/>
        </p:nvSpPr>
        <p:spPr>
          <a:xfrm>
            <a:off x="749808" y="3008376"/>
            <a:ext cx="4969764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AUTO/ASK를</a:t>
            </a:r>
            <a:endParaRPr lang="en-US" sz="1500">
              <a:solidFill>
                <a:srgbClr val="5567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적절하게 선택했는가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372100" cy="1965960"/>
          </a:xfrm>
          <a:prstGeom prst="roundRect">
            <a:avLst>
              <a:gd name="adj" fmla="val 4865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6441948" y="1947672"/>
            <a:ext cx="4969764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500" b="1" kern="0" spc="3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② 자동 대응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6441948" y="2313432"/>
            <a:ext cx="4969764" cy="621792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자동 복구 성공률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6441948" y="3008376"/>
            <a:ext cx="4969764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스스로 처리한 예외를</a:t>
            </a:r>
            <a:endParaRPr lang="en-US" sz="1500">
              <a:solidFill>
                <a:srgbClr val="5567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실제로 해결했는가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372100" cy="1965960"/>
          </a:xfrm>
          <a:prstGeom prst="roundRect">
            <a:avLst>
              <a:gd name="adj" fmla="val 4865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 sz="2200"/>
          </a:p>
        </p:txBody>
      </p:sp>
      <p:sp>
        <p:nvSpPr>
          <p:cNvPr id="18" name="Text 16"/>
          <p:cNvSpPr txBox="1"/>
          <p:nvPr/>
        </p:nvSpPr>
        <p:spPr>
          <a:xfrm>
            <a:off x="749808" y="4233672"/>
            <a:ext cx="4969764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500" b="1" kern="0" spc="3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③ 상호작용</a:t>
            </a:r>
            <a:endParaRPr lang="en-US" sz="1400"/>
          </a:p>
        </p:txBody>
      </p:sp>
      <p:sp>
        <p:nvSpPr>
          <p:cNvPr id="19" name="Text 17"/>
          <p:cNvSpPr txBox="1"/>
          <p:nvPr/>
        </p:nvSpPr>
        <p:spPr>
          <a:xfrm>
            <a:off x="749808" y="4599432"/>
            <a:ext cx="4969764" cy="621792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피드백 반영 성공률</a:t>
            </a:r>
            <a:endParaRPr lang="en-US" sz="1700"/>
          </a:p>
        </p:txBody>
      </p:sp>
      <p:sp>
        <p:nvSpPr>
          <p:cNvPr id="20" name="Text 18"/>
          <p:cNvSpPr txBox="1"/>
          <p:nvPr/>
        </p:nvSpPr>
        <p:spPr>
          <a:xfrm>
            <a:off x="749808" y="5294376"/>
            <a:ext cx="4969764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사용자의 수정·승인을</a:t>
            </a:r>
            <a:endParaRPr lang="en-US" sz="1500">
              <a:solidFill>
                <a:srgbClr val="5567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계획에 반영했는가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6240780" y="4069080"/>
            <a:ext cx="5372100" cy="1965960"/>
          </a:xfrm>
          <a:prstGeom prst="roundRect">
            <a:avLst>
              <a:gd name="adj" fmla="val 4865"/>
            </a:avLst>
          </a:prstGeom>
          <a:solidFill>
            <a:srgbClr val="e4eff4"/>
          </a:solidFill>
          <a:ln w="6350">
            <a:solidFill>
              <a:srgbClr val="e4eff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 sz="2200"/>
          </a:p>
        </p:txBody>
      </p:sp>
      <p:sp>
        <p:nvSpPr>
          <p:cNvPr id="22" name="Text 20"/>
          <p:cNvSpPr txBox="1"/>
          <p:nvPr/>
        </p:nvSpPr>
        <p:spPr>
          <a:xfrm>
            <a:off x="6441948" y="4233672"/>
            <a:ext cx="4969764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500" b="1" kern="0" spc="3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④ 전체 시스템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6441948" y="4599432"/>
            <a:ext cx="4969764" cy="621792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20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최종 임무 성공률</a:t>
            </a:r>
            <a:endParaRPr lang="en-US" sz="1700"/>
          </a:p>
        </p:txBody>
      </p:sp>
      <p:sp>
        <p:nvSpPr>
          <p:cNvPr id="24" name="Text 22"/>
          <p:cNvSpPr txBox="1"/>
          <p:nvPr/>
        </p:nvSpPr>
        <p:spPr>
          <a:xfrm>
            <a:off x="6441948" y="5294376"/>
            <a:ext cx="4969764" cy="6400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결과적으로 임무를</a:t>
            </a:r>
            <a:endParaRPr lang="en-US" sz="1500">
              <a:solidFill>
                <a:srgbClr val="5567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900"/>
              </a:lnSpc>
              <a:buNone/>
              <a:defRPr/>
            </a:pPr>
            <a:r>
              <a:rPr lang="en-US" sz="150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완료했는가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altLang="ko-KR"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altLang="ko-KR" sz="17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0f1d2b"/>
                </a:solidFill>
                <a:latin typeface="Cambria"/>
                <a:ea typeface="Cambria"/>
                <a:cs typeface="Cambria"/>
              </a:rPr>
              <a:t>3개월 구현</a:t>
            </a:r>
            <a:endParaRPr lang="en-US" sz="2700"/>
          </a:p>
        </p:txBody>
      </p:sp>
      <p:sp>
        <p:nvSpPr>
          <p:cNvPr id="8" name="Shape 6"/>
          <p:cNvSpPr/>
          <p:nvPr/>
        </p:nvSpPr>
        <p:spPr>
          <a:xfrm>
            <a:off x="475488" y="2011679"/>
            <a:ext cx="3511296" cy="1417320"/>
          </a:xfrm>
          <a:prstGeom prst="roundRect">
            <a:avLst>
              <a:gd name="adj" fmla="val 5806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167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실험 공간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749808" y="2587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1개 공간으로 한정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4206240" y="2011679"/>
            <a:ext cx="3511296" cy="1417320"/>
          </a:xfrm>
          <a:prstGeom prst="roundRect">
            <a:avLst>
              <a:gd name="adj" fmla="val 5806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480560" y="2167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목적지</a:t>
            </a:r>
            <a:endParaRPr lang="en-US" sz="1500"/>
          </a:p>
        </p:txBody>
      </p:sp>
      <p:sp>
        <p:nvSpPr>
          <p:cNvPr id="13" name="Text 11"/>
          <p:cNvSpPr txBox="1"/>
          <p:nvPr/>
        </p:nvSpPr>
        <p:spPr>
          <a:xfrm>
            <a:off x="4480560" y="2587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3 ~ 5개 지점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7936992" y="2011679"/>
            <a:ext cx="3511296" cy="1417320"/>
          </a:xfrm>
          <a:prstGeom prst="roundRect">
            <a:avLst>
              <a:gd name="adj" fmla="val 5806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11312" y="2167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d2b"/>
                </a:solidFill>
                <a:latin typeface="Calibri"/>
                <a:ea typeface="Calibri"/>
                <a:cs typeface="Calibri"/>
              </a:rPr>
              <a:t>예외 상황</a:t>
            </a:r>
            <a:endParaRPr lang="en-US" sz="1500"/>
          </a:p>
        </p:txBody>
      </p:sp>
      <p:sp>
        <p:nvSpPr>
          <p:cNvPr id="16" name="Text 14"/>
          <p:cNvSpPr txBox="1"/>
          <p:nvPr/>
        </p:nvSpPr>
        <p:spPr>
          <a:xfrm>
            <a:off x="8211312" y="2587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700"/>
              </a:lnSpc>
              <a:buNone/>
              <a:defRPr/>
            </a:pPr>
            <a:r>
              <a:rPr lang="en-US" sz="1250">
                <a:solidFill>
                  <a:srgbClr val="55677a"/>
                </a:solidFill>
                <a:latin typeface="Calibri"/>
                <a:ea typeface="Calibri"/>
                <a:cs typeface="Calibri"/>
              </a:rPr>
              <a:t>물체 부재 · 경로 차단 · 모호한 명령, 3가지로 제한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1d2b"/>
          </a:solidFill>
          <a:ln w="6350">
            <a:solidFill>
              <a:srgbClr val="0f1d2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 b="1" kern="0" spc="100">
                <a:solidFill>
                  <a:srgbClr val="ffc97a"/>
                </a:solidFill>
                <a:latin typeface="Calibri"/>
                <a:ea typeface="Calibri"/>
                <a:cs typeface="Calibri"/>
              </a:rPr>
              <a:t>3개월 구현의 목표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777240" y="42245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단순히 자연어로 움직이는 로봇이 아니라, 현장의 변화를 인식하고 사용자와 확인하며 임무를 수정할 수 있는 로봇 시스템을 구현하고 정량적으로 검증합니다.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338</ep:Words>
  <ep:PresentationFormat>On-screen Show (16:9)</ep:PresentationFormat>
  <ep:Paragraphs>98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2026-09-08T10:22:52.000</dcterms:created>
  <dc:creator>PptxGenJS</dc:creator>
  <cp:lastModifiedBy>SAMSUNG</cp:lastModifiedBy>
  <dcterms:modified xsi:type="dcterms:W3CDTF">2026-09-08T11:48:21.594</dcterms:modified>
  <cp:revision>36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