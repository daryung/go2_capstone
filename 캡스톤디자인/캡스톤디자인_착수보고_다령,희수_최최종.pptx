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thumbnail" Target="docProps/thumbnail.jpeg"  /><Relationship Id="rId3" Type="http://schemas.openxmlformats.org/package/2006/relationships/metadata/core-properties" Target="docProps/core.xml"  /><Relationship Id="rId4" Type="http://schemas.openxmlformats.org/officeDocument/2006/relationships/extended-properties" Target="docProps/app.xml"  /><Relationship Id="rId5" Type="http://schemas.openxmlformats.org/officeDocument/2006/relationships/custom-properties" Target="docProps/custom.xml"  /></Relationships>
</file>

<file path=ppt/presentation.xml><?xml version="1.0" encoding="utf-8"?>
<p:presentation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autoCompressPictures="0">
  <p:sldMasterIdLst>
    <p:sldMasterId id="2147483663" r:id="rId1"/>
  </p:sldMasterIdLst>
  <p:notesMasterIdLst>
    <p:notesMasterId r:id="rId2"/>
  </p:notesMasterIdLst>
  <p:sldIdLst>
    <p:sldId id="256" r:id="rId3"/>
    <p:sldId id="257" r:id="rId4"/>
    <p:sldId id="258" r:id="rId5"/>
    <p:sldId id="259" r:id="rId6"/>
    <p:sldId id="260" r:id="rId7"/>
    <p:sldId id="261"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file>

<file path=ppt/tableStyles.xml><?xml version="1.0" encoding="utf-8"?>
<a:tblStyleLst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def="{5C22544A-7EE6-4342-B048-85BDC9FD1C3A}"/>
</file>

<file path=ppt/viewProps.xml><?xml version="1.0" encoding="utf-8"?>
<p:view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normalViewPr horzBarState="maximized">
    <p:restoredLeft sz="12069"/>
    <p:restoredTop sz="86005"/>
  </p:normalViewPr>
  <p:slideViewPr>
    <p:cSldViewPr snapToGrid="0" snapToObjects="1">
      <p:cViewPr varScale="1">
        <p:scale>
          <a:sx n="100" d="100"/>
          <a:sy n="100" d="100"/>
        </p:scale>
        <p:origin x="200" y="1048"/>
      </p:cViewPr>
      <p:guideLst>
        <p:guide orient="horz" pos="2159"/>
        <p:guide pos="3839"/>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viewProps" Target="viewProps.xml"  /><Relationship Id="rId11" Type="http://schemas.openxmlformats.org/officeDocument/2006/relationships/theme" Target="theme/theme1.xml"  /><Relationship Id="rId12" Type="http://schemas.openxmlformats.org/officeDocument/2006/relationships/tableStyles" Target="tableStyles.xml"  /><Relationship Id="rId2" Type="http://schemas.openxmlformats.org/officeDocument/2006/relationships/notesMaster" Target="notesMasters/notesMaster1.xml"  /><Relationship Id="rId3" Type="http://schemas.openxmlformats.org/officeDocument/2006/relationships/slide" Target="slides/slide1.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presProps" Target="pres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f hdr="0" ftr="0" dt="0"/>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  /><Relationship Id="rId2"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  /><Relationship Id="rId2" Type="http://schemas.openxmlformats.org/officeDocument/2006/relationships/notesMaster" Target="../notesMasters/notesMaster1.xml"  /></Relationships>
</file>

<file path=ppt/notesSlides/notesSlide1.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[15초] 안녕하세요, 팀 수다입니다. 저희는 사람이 말로 내린 명령을 4족보행 로봇 Go2가 스스로 작업 단위로 나눠 수행하고, 도중에 문제가 생기면 다음 행동을 판단하는 시스템을 만들고 있습니다.</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1</a:t>
            </a:fld>
            <a:endParaRPr lang="en-US"/>
          </a:p>
        </p:txBody>
      </p:sp>
    </p:spTree>
  </p:cSld>
  <p:clrMapOvr>
    <a:masterClrMapping/>
  </p:clrMapOvr>
</p:notes>
</file>

<file path=ppt/notesSlides/notesSlide2.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[35초] 지금의 이동 로봇은 대부분 개발자가 목적지와 행동 순서를 미리 정해 둡니다. 그런데 실제 환경에서는 길이 막히거나, 시간이 너무 오래 걸리거나, 찾는 물건이 없는 상황이 생깁니다. 정해진 순서만 따르는 로봇은 이런 변화에 유연하게 대응하기 어렵습니다. 그래서 저희 목표는 자연어 명령을 로봇이 실행할 수 있는 작업 단위로 나누고, 실행 중 상황을 보고 다음 행동을 스스로 고르게 하는 것입니다. 끝까지 해결이 안 되면 안전하게 돌아오거나 사용자에게 확인을 요청합니다.</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2</a:t>
            </a:fld>
            <a:endParaRPr lang="en-US"/>
          </a:p>
        </p:txBody>
      </p:sp>
    </p:spTree>
  </p:cSld>
  <p:clrMapOvr>
    <a:masterClrMapping/>
  </p:clrMapOvr>
</p:notes>
</file>

<file path=ppt/notesSlides/notesSlide3.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ko-KR" altLang="en-US"/>
              <a:t>주로 해결할 문제의 예를 들겠습니다</a:t>
            </a:r>
            <a:r>
              <a:rPr lang="en-US" altLang="ko-KR"/>
              <a:t>.</a:t>
            </a:r>
            <a:r>
              <a:rPr lang="ko-KR" altLang="en-US"/>
              <a:t> </a:t>
            </a:r>
            <a:endParaRPr lang="ko-KR" alt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3</a:t>
            </a:fld>
            <a:endParaRPr lang="en-US"/>
          </a:p>
        </p:txBody>
      </p:sp>
    </p:spTree>
  </p:cSld>
  <p:clrMapOvr>
    <a:masterClrMapping/>
  </p:clrMapOvr>
</p:notes>
</file>

<file path=ppt/notesSlides/notesSlide4.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[40초] 이 프로젝트의 핵심은 예외 상황 대응입니다. 로봇이 보내는 상태는 여섯 가지이고, 선택할 수 있는 행동은 이동, 관찰, 재시도, 복귀, 정지의 다섯 가지입니다. 목적지에 도착하면 관찰하고, 경로가 막히면 재시도하거나 사용자에게 확인합니다. 시간이 초과되면 재시도 또는 복귀, 물건을 못 찾으면 다시 찾거나 복귀하고, 오류가 나면 바로 안전하게 정지합니다. 이 판단을 미리 정한 규칙표로 하는 Rule 방식과, 상황을 읽고 판단하는 LLM 방식 두 가지로 만들어 같은 상황에서 어느 쪽이 더 잘 대응하는지 비교할 계획입니다.</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4</a:t>
            </a:fld>
            <a:endParaRPr lang="en-US"/>
          </a:p>
        </p:txBody>
      </p:sp>
    </p:spTree>
  </p:cSld>
  <p:clrMapOvr>
    <a:masterClrMapping/>
  </p:clrMapOvr>
</p:notes>
</file>

<file path=ppt/notesSlides/notesSlide5.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[30초] 역할은 이렇게 나눴습니다. 황다령 학생은 Go2 연결과 이동 제어, 내비게이션 상태 수신, 카메라와 YOLO 객체 인식, 즉 로봇이 실제로 움직이고 보는 부분을 맡았고, 현재 실제 Go2 환경에서 이동과 인식 기능을 구현하고 있습니다. 김희수 학생은 자연어 명령을 작업으로 나누고, 상태별로 다음 행동을 고르는 구조를 만들고, Rule 방식과 LLM 방식의 비교를 설계하는 판단 부분을 맡았습니다. 지금은 코드 골격을 만들고, 실제 로봇 대신 가상 입력을 넣는 mock 환경에서 흐름을 확인하고 있습니다. 현재는 두 모듈을 각각 만드는 단계이고, 다음 단계에서 로봇의 상태와 인식 결과를 판단 모듈에 연결할 예정입니다.</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5</a:t>
            </a:fld>
            <a:endParaRPr lang="en-US"/>
          </a:p>
        </p:txBody>
      </p:sp>
    </p:spTree>
  </p:cSld>
  <p:clrMapOvr>
    <a:masterClrMapping/>
  </p:clrMapOvr>
</p:notes>
</file>

<file path=ppt/notesSlides/notesSlide6.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[15초] 평가는 임무 성공률, 예외 대응 성공률, 완료 시간, 불필요한 재시도 횟수, 안전 복귀율로 하고, 같은 시나리오에서 Rule과 LLM을 반복 비교하겠습니다. 앞으로 실제 API 연동, 로봇과의 통합, 전체 임무 실험 순서로 진행하겠습니다. 감사합니다.</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Relationship Id="rId1" Type="http://schemas.openxmlformats.org/officeDocument/2006/relationships/notesSlide" Target="../notesSlides/notesSlide4.xml"  /><Relationship Id="rId2" Type="http://schemas.openxmlformats.org/officeDocument/2006/relationships/slideLayout" Target="../slideLayouts/slideLayout1.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02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7FA8FF"/>
                </a:solidFill>
                <a:latin typeface="Noto Sans KR" pitchFamily="34" charset="0"/>
                <a:ea typeface="Noto Sans KR" pitchFamily="34" charset="-122"/>
                <a:cs typeface="Noto Sans KR" pitchFamily="34" charset="-120"/>
              </a:rPr>
              <a:t>캡스톤디자인 프로젝트 소개</a:t>
            </a:r>
            <a:endParaRPr lang="en-US" sz="1400" dirty="0"/>
          </a:p>
        </p:txBody>
      </p:sp>
      <p:sp>
        <p:nvSpPr>
          <p:cNvPr id="3" name="Text 1"/>
          <p:cNvSpPr/>
          <p:nvPr/>
        </p:nvSpPr>
        <p:spPr>
          <a:xfrm>
            <a:off x="812800" y="2512715"/>
            <a:ext cx="10883392" cy="1244600"/>
          </a:xfrm>
          <a:prstGeom prst="rect">
            <a:avLst/>
          </a:prstGeom>
          <a:noFill/>
          <a:ln/>
        </p:spPr>
        <p:txBody>
          <a:bodyPr wrap="square" lIns="0" tIns="0" rIns="0" bIns="0" rtlCol="0" anchor="t">
            <a:normAutofit/>
          </a:bodyPr>
          <a:lstStyle/>
          <a:p>
            <a:pPr marL="0" indent="0" algn="l">
              <a:lnSpc>
                <a:spcPts val="4800"/>
              </a:lnSpc>
              <a:buNone/>
            </a:pPr>
            <a:r>
              <a:rPr lang="en-US" sz="4000" b="1" dirty="0">
                <a:solidFill>
                  <a:srgbClr val="F5F3EE"/>
                </a:solidFill>
                <a:latin typeface="Noto Sans KR" pitchFamily="34" charset="0"/>
                <a:ea typeface="Noto Sans KR" pitchFamily="34" charset="-122"/>
                <a:cs typeface="Noto Sans KR" pitchFamily="34" charset="-120"/>
              </a:rPr>
              <a:t>LLM·Vision 기반 Go2</a:t>
            </a:r>
            <a:endParaRPr lang="en-US" sz="4000" dirty="0"/>
          </a:p>
          <a:p>
            <a:pPr marL="0" indent="0" algn="l">
              <a:lnSpc>
                <a:spcPts val="4800"/>
              </a:lnSpc>
              <a:buNone/>
            </a:pPr>
            <a:r>
              <a:rPr lang="en-US" sz="4000" b="1" dirty="0">
                <a:solidFill>
                  <a:srgbClr val="F5F3EE"/>
                </a:solidFill>
                <a:latin typeface="Noto Sans KR" pitchFamily="34" charset="0"/>
                <a:ea typeface="Noto Sans KR" pitchFamily="34" charset="-122"/>
                <a:cs typeface="Noto Sans KR" pitchFamily="34" charset="-120"/>
              </a:rPr>
              <a:t>자연어 임무 수행 및 예외 대응 시스템</a:t>
            </a:r>
            <a:endParaRPr lang="en-US" sz="4000" dirty="0"/>
          </a:p>
        </p:txBody>
      </p:sp>
      <p:sp>
        <p:nvSpPr>
          <p:cNvPr id="4" name="Text 2"/>
          <p:cNvSpPr/>
          <p:nvPr/>
        </p:nvSpPr>
        <p:spPr>
          <a:xfrm>
            <a:off x="812800" y="3985915"/>
            <a:ext cx="10726420" cy="349250"/>
          </a:xfrm>
          <a:prstGeom prst="rect">
            <a:avLst/>
          </a:prstGeom>
          <a:noFill/>
          <a:ln/>
        </p:spPr>
        <p:txBody>
          <a:bodyPr wrap="square" lIns="0" tIns="0" rIns="0" bIns="0" rtlCol="0" anchor="t">
            <a:normAutofit/>
          </a:bodyPr>
          <a:lstStyle/>
          <a:p>
            <a:pPr marL="0" indent="0" algn="l">
              <a:lnSpc>
                <a:spcPts val="2550"/>
              </a:lnSpc>
              <a:buNone/>
            </a:pPr>
            <a:r>
              <a:rPr lang="en-US" sz="1700" dirty="0">
                <a:solidFill>
                  <a:srgbClr val="C9D2DC"/>
                </a:solidFill>
                <a:latin typeface="Noto Sans KR" pitchFamily="34" charset="0"/>
                <a:ea typeface="Noto Sans KR" pitchFamily="34" charset="-122"/>
                <a:cs typeface="Noto Sans KR" pitchFamily="34" charset="-120"/>
              </a:rPr>
              <a:t>말로 내린 복합 명령을 작업으로 나누고, 상황에 따라 다음 행동을 스스로 고르는 4족보행 로봇</a:t>
            </a:r>
            <a:endParaRPr lang="en-US" sz="1700" dirty="0"/>
          </a:p>
        </p:txBody>
      </p:sp>
      <p:sp>
        <p:nvSpPr>
          <p:cNvPr id="5" name="Text 3"/>
          <p:cNvSpPr/>
          <p:nvPr/>
        </p:nvSpPr>
        <p:spPr>
          <a:xfrm>
            <a:off x="812800" y="5760740"/>
            <a:ext cx="132080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5F3EE"/>
                </a:solidFill>
                <a:latin typeface="Noto Sans KR" pitchFamily="34" charset="0"/>
                <a:ea typeface="Noto Sans KR" pitchFamily="34" charset="-122"/>
                <a:cs typeface="Noto Sans KR" pitchFamily="34" charset="-120"/>
              </a:rPr>
              <a:t>팀 수다</a:t>
            </a:r>
            <a:endParaRPr lang="en-US" sz="1600" dirty="0"/>
          </a:p>
        </p:txBody>
      </p:sp>
      <p:sp>
        <p:nvSpPr>
          <p:cNvPr id="6" name="Text 4"/>
          <p:cNvSpPr/>
          <p:nvPr/>
        </p:nvSpPr>
        <p:spPr>
          <a:xfrm>
            <a:off x="2336800" y="5778500"/>
            <a:ext cx="392430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A9B4C2"/>
                </a:solidFill>
                <a:latin typeface="Noto Sans KR" pitchFamily="34" charset="0"/>
                <a:ea typeface="Noto Sans KR" pitchFamily="34" charset="-122"/>
                <a:cs typeface="Noto Sans KR" pitchFamily="34" charset="-120"/>
              </a:rPr>
              <a:t>팀장 황다령 · 팀원 김희수</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B2430"/>
                </a:solidFill>
                <a:latin typeface="Noto Sans KR" pitchFamily="34" charset="0"/>
                <a:ea typeface="Noto Sans KR" pitchFamily="34" charset="-122"/>
                <a:cs typeface="Noto Sans KR" pitchFamily="34" charset="-120"/>
              </a:rPr>
              <a:t>기존 방식의 문제와 해결 목표</a:t>
            </a:r>
            <a:endParaRPr lang="en-US" sz="3200" dirty="0"/>
          </a:p>
        </p:txBody>
      </p:sp>
      <p:sp>
        <p:nvSpPr>
          <p:cNvPr id="3" name="Shape 1"/>
          <p:cNvSpPr/>
          <p:nvPr/>
        </p:nvSpPr>
        <p:spPr>
          <a:xfrm>
            <a:off x="815975" y="1669405"/>
            <a:ext cx="5156200" cy="2322711"/>
          </a:xfrm>
          <a:prstGeom prst="roundRect">
            <a:avLst>
              <a:gd name="adj" fmla="val 5331"/>
            </a:avLst>
          </a:prstGeom>
          <a:solidFill>
            <a:srgbClr val="FFFDF8"/>
          </a:solidFill>
          <a:ln w="6350">
            <a:solidFill>
              <a:srgbClr val="DCD8CF"/>
            </a:solidFill>
            <a:prstDash val="solid"/>
          </a:ln>
        </p:spPr>
        <p:txBody>
          <a:bodyPr/>
          <a:lstStyle/>
          <a:p>
            <a:endParaRPr lang="ko-KR" altLang="en-US"/>
          </a:p>
        </p:txBody>
      </p:sp>
      <p:sp>
        <p:nvSpPr>
          <p:cNvPr id="4" name="Text 2"/>
          <p:cNvSpPr/>
          <p:nvPr/>
        </p:nvSpPr>
        <p:spPr>
          <a:xfrm>
            <a:off x="1123950" y="1977380"/>
            <a:ext cx="467645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A7280"/>
                </a:solidFill>
                <a:latin typeface="Noto Sans KR" pitchFamily="34" charset="0"/>
                <a:ea typeface="Noto Sans KR" pitchFamily="34" charset="-122"/>
                <a:cs typeface="Noto Sans KR" pitchFamily="34" charset="-120"/>
              </a:rPr>
              <a:t>기존 방식</a:t>
            </a:r>
            <a:endParaRPr lang="en-US" sz="1200" dirty="0"/>
          </a:p>
        </p:txBody>
      </p:sp>
      <p:sp>
        <p:nvSpPr>
          <p:cNvPr id="5" name="Text 3"/>
          <p:cNvSpPr/>
          <p:nvPr/>
        </p:nvSpPr>
        <p:spPr>
          <a:xfrm>
            <a:off x="1123950" y="2368500"/>
            <a:ext cx="4676458" cy="32256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B2430"/>
                </a:solidFill>
                <a:latin typeface="Noto Sans KR" pitchFamily="34" charset="0"/>
                <a:ea typeface="Noto Sans KR" pitchFamily="34" charset="-122"/>
                <a:cs typeface="Noto Sans KR" pitchFamily="34" charset="-120"/>
              </a:rPr>
              <a:t>개발자가 목적지와 행동 순서를 미리 고정</a:t>
            </a:r>
            <a:endParaRPr lang="en-US" sz="1800" dirty="0"/>
          </a:p>
        </p:txBody>
      </p:sp>
      <p:sp>
        <p:nvSpPr>
          <p:cNvPr id="6" name="Shape 4"/>
          <p:cNvSpPr/>
          <p:nvPr/>
        </p:nvSpPr>
        <p:spPr>
          <a:xfrm>
            <a:off x="1123950" y="2843461"/>
            <a:ext cx="1270000" cy="358130"/>
          </a:xfrm>
          <a:prstGeom prst="roundRect">
            <a:avLst>
              <a:gd name="adj" fmla="val 50000"/>
            </a:avLst>
          </a:prstGeom>
          <a:solidFill>
            <a:srgbClr val="F6E3D8"/>
          </a:solidFill>
          <a:ln/>
        </p:spPr>
        <p:txBody>
          <a:bodyPr/>
          <a:lstStyle/>
          <a:p>
            <a:endParaRPr lang="ko-KR" altLang="en-US"/>
          </a:p>
        </p:txBody>
      </p:sp>
      <p:sp>
        <p:nvSpPr>
          <p:cNvPr id="7" name="Text 5"/>
          <p:cNvSpPr/>
          <p:nvPr/>
        </p:nvSpPr>
        <p:spPr>
          <a:xfrm>
            <a:off x="1098550" y="2906961"/>
            <a:ext cx="1320800" cy="25653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8A3A14"/>
                </a:solidFill>
                <a:latin typeface="Noto Sans KR" pitchFamily="34" charset="0"/>
                <a:ea typeface="Noto Sans KR" pitchFamily="34" charset="-122"/>
                <a:cs typeface="Noto Sans KR" pitchFamily="34" charset="-120"/>
              </a:rPr>
              <a:t>경로 차단</a:t>
            </a:r>
            <a:endParaRPr lang="en-US" sz="1300" dirty="0"/>
          </a:p>
        </p:txBody>
      </p:sp>
      <p:sp>
        <p:nvSpPr>
          <p:cNvPr id="8" name="Shape 6"/>
          <p:cNvSpPr/>
          <p:nvPr/>
        </p:nvSpPr>
        <p:spPr>
          <a:xfrm>
            <a:off x="2495550" y="2843461"/>
            <a:ext cx="1270000" cy="358130"/>
          </a:xfrm>
          <a:prstGeom prst="roundRect">
            <a:avLst>
              <a:gd name="adj" fmla="val 50000"/>
            </a:avLst>
          </a:prstGeom>
          <a:solidFill>
            <a:srgbClr val="F6E3D8"/>
          </a:solidFill>
          <a:ln/>
        </p:spPr>
        <p:txBody>
          <a:bodyPr/>
          <a:lstStyle/>
          <a:p>
            <a:endParaRPr lang="ko-KR" altLang="en-US"/>
          </a:p>
        </p:txBody>
      </p:sp>
      <p:sp>
        <p:nvSpPr>
          <p:cNvPr id="9" name="Text 7"/>
          <p:cNvSpPr/>
          <p:nvPr/>
        </p:nvSpPr>
        <p:spPr>
          <a:xfrm>
            <a:off x="2470150" y="2906961"/>
            <a:ext cx="1320800" cy="25653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8A3A14"/>
                </a:solidFill>
                <a:latin typeface="Noto Sans KR" pitchFamily="34" charset="0"/>
                <a:ea typeface="Noto Sans KR" pitchFamily="34" charset="-122"/>
                <a:cs typeface="Noto Sans KR" pitchFamily="34" charset="-120"/>
              </a:rPr>
              <a:t>시간 초과</a:t>
            </a:r>
            <a:endParaRPr lang="en-US" sz="1300" dirty="0"/>
          </a:p>
        </p:txBody>
      </p:sp>
      <p:sp>
        <p:nvSpPr>
          <p:cNvPr id="10" name="Shape 8"/>
          <p:cNvSpPr/>
          <p:nvPr/>
        </p:nvSpPr>
        <p:spPr>
          <a:xfrm>
            <a:off x="3867150" y="2843461"/>
            <a:ext cx="1651000" cy="358130"/>
          </a:xfrm>
          <a:prstGeom prst="roundRect">
            <a:avLst>
              <a:gd name="adj" fmla="val 50000"/>
            </a:avLst>
          </a:prstGeom>
          <a:solidFill>
            <a:srgbClr val="F6E3D8"/>
          </a:solidFill>
          <a:ln/>
        </p:spPr>
        <p:txBody>
          <a:bodyPr/>
          <a:lstStyle/>
          <a:p>
            <a:endParaRPr lang="ko-KR" altLang="en-US"/>
          </a:p>
        </p:txBody>
      </p:sp>
      <p:sp>
        <p:nvSpPr>
          <p:cNvPr id="11" name="Text 9"/>
          <p:cNvSpPr/>
          <p:nvPr/>
        </p:nvSpPr>
        <p:spPr>
          <a:xfrm>
            <a:off x="3841750" y="2906961"/>
            <a:ext cx="1701800" cy="25653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8A3A14"/>
                </a:solidFill>
                <a:latin typeface="Noto Sans KR" pitchFamily="34" charset="0"/>
                <a:ea typeface="Noto Sans KR" pitchFamily="34" charset="-122"/>
                <a:cs typeface="Noto Sans KR" pitchFamily="34" charset="-120"/>
              </a:rPr>
              <a:t>목표물 미발견</a:t>
            </a:r>
            <a:endParaRPr lang="en-US" sz="1300" dirty="0"/>
          </a:p>
        </p:txBody>
      </p:sp>
      <p:sp>
        <p:nvSpPr>
          <p:cNvPr id="12" name="Text 10"/>
          <p:cNvSpPr/>
          <p:nvPr/>
        </p:nvSpPr>
        <p:spPr>
          <a:xfrm>
            <a:off x="1123950" y="3379391"/>
            <a:ext cx="4676458"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3D4754"/>
                </a:solidFill>
                <a:latin typeface="Noto Sans KR" pitchFamily="34" charset="0"/>
                <a:ea typeface="Noto Sans KR" pitchFamily="34" charset="-122"/>
                <a:cs typeface="Noto Sans KR" pitchFamily="34" charset="-120"/>
              </a:rPr>
              <a:t>실제 환경의 예상 못한 상황에 유연하게 대응하기 어려움</a:t>
            </a:r>
            <a:endParaRPr lang="en-US" sz="1400" dirty="0"/>
          </a:p>
        </p:txBody>
      </p:sp>
      <p:sp>
        <p:nvSpPr>
          <p:cNvPr id="13" name="Shape 11"/>
          <p:cNvSpPr/>
          <p:nvPr/>
        </p:nvSpPr>
        <p:spPr>
          <a:xfrm>
            <a:off x="6229350" y="1666230"/>
            <a:ext cx="5149850" cy="2329061"/>
          </a:xfrm>
          <a:prstGeom prst="roundRect">
            <a:avLst>
              <a:gd name="adj" fmla="val 5453"/>
            </a:avLst>
          </a:prstGeom>
          <a:solidFill>
            <a:srgbClr val="14202E"/>
          </a:solidFill>
          <a:ln/>
        </p:spPr>
        <p:txBody>
          <a:bodyPr/>
          <a:lstStyle/>
          <a:p>
            <a:endParaRPr lang="ko-KR" altLang="en-US"/>
          </a:p>
        </p:txBody>
      </p:sp>
      <p:sp>
        <p:nvSpPr>
          <p:cNvPr id="14" name="Text 12"/>
          <p:cNvSpPr/>
          <p:nvPr/>
        </p:nvSpPr>
        <p:spPr>
          <a:xfrm>
            <a:off x="6534150" y="1971030"/>
            <a:ext cx="467645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7FA8FF"/>
                </a:solidFill>
                <a:latin typeface="Noto Sans KR" pitchFamily="34" charset="0"/>
                <a:ea typeface="Noto Sans KR" pitchFamily="34" charset="-122"/>
                <a:cs typeface="Noto Sans KR" pitchFamily="34" charset="-120"/>
              </a:rPr>
              <a:t>해결 목표</a:t>
            </a:r>
            <a:endParaRPr lang="en-US" sz="1200" dirty="0"/>
          </a:p>
        </p:txBody>
      </p:sp>
      <p:sp>
        <p:nvSpPr>
          <p:cNvPr id="15" name="Text 13"/>
          <p:cNvSpPr/>
          <p:nvPr/>
        </p:nvSpPr>
        <p:spPr>
          <a:xfrm>
            <a:off x="6534150" y="2362150"/>
            <a:ext cx="4676458" cy="32256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F5F3EE"/>
                </a:solidFill>
                <a:latin typeface="Noto Sans KR" pitchFamily="34" charset="0"/>
                <a:ea typeface="Noto Sans KR" pitchFamily="34" charset="-122"/>
                <a:cs typeface="Noto Sans KR" pitchFamily="34" charset="-120"/>
              </a:rPr>
              <a:t>상황을 보고 다음 행동을 고르는 로봇</a:t>
            </a:r>
            <a:endParaRPr lang="en-US" sz="1800" dirty="0"/>
          </a:p>
        </p:txBody>
      </p:sp>
      <p:sp>
        <p:nvSpPr>
          <p:cNvPr id="16" name="Text 14"/>
          <p:cNvSpPr/>
          <p:nvPr/>
        </p:nvSpPr>
        <p:spPr>
          <a:xfrm>
            <a:off x="6534150" y="2837111"/>
            <a:ext cx="4676458" cy="878780"/>
          </a:xfrm>
          <a:prstGeom prst="rect">
            <a:avLst/>
          </a:prstGeom>
          <a:noFill/>
          <a:ln/>
        </p:spPr>
        <p:txBody>
          <a:bodyPr wrap="square" lIns="0" tIns="0" rIns="0" bIns="0" rtlCol="0" anchor="t">
            <a:normAutofit/>
          </a:bodyPr>
          <a:lstStyle/>
          <a:p>
            <a:pPr marL="342900" indent="-342900" algn="l">
              <a:lnSpc>
                <a:spcPts val="2240"/>
              </a:lnSpc>
              <a:buSzPct val="100000"/>
              <a:buFont typeface="+mj-lt"/>
              <a:buAutoNum type="arabicPeriod"/>
            </a:pPr>
            <a:r>
              <a:rPr lang="en-US" sz="1400" dirty="0">
                <a:solidFill>
                  <a:srgbClr val="DFE5EC"/>
                </a:solidFill>
                <a:latin typeface="Noto Sans KR" pitchFamily="34" charset="0"/>
                <a:ea typeface="Noto Sans KR" pitchFamily="34" charset="-122"/>
                <a:cs typeface="Noto Sans KR" pitchFamily="34" charset="-120"/>
              </a:rPr>
              <a:t>자연어 명령을 작업 단위로 분해</a:t>
            </a:r>
            <a:endParaRPr lang="en-US" sz="1400" dirty="0"/>
          </a:p>
          <a:p>
            <a:pPr marL="342900" indent="-342900" algn="l">
              <a:lnSpc>
                <a:spcPts val="2240"/>
              </a:lnSpc>
              <a:buSzPct val="100000"/>
              <a:buFont typeface="+mj-lt"/>
              <a:buAutoNum type="arabicPeriod"/>
            </a:pPr>
            <a:r>
              <a:rPr lang="en-US" sz="1400" dirty="0">
                <a:solidFill>
                  <a:srgbClr val="DFE5EC"/>
                </a:solidFill>
                <a:latin typeface="Noto Sans KR" pitchFamily="34" charset="0"/>
                <a:ea typeface="Noto Sans KR" pitchFamily="34" charset="-122"/>
                <a:cs typeface="Noto Sans KR" pitchFamily="34" charset="-120"/>
              </a:rPr>
              <a:t>실행 중 상태를 보고 다음 행동 선택</a:t>
            </a:r>
            <a:endParaRPr lang="en-US" sz="1400" dirty="0"/>
          </a:p>
          <a:p>
            <a:pPr marL="342900" indent="-342900" algn="l">
              <a:lnSpc>
                <a:spcPts val="2240"/>
              </a:lnSpc>
              <a:buSzPct val="100000"/>
              <a:buFont typeface="+mj-lt"/>
              <a:buAutoNum type="arabicPeriod"/>
            </a:pPr>
            <a:r>
              <a:rPr lang="en-US" sz="1400" dirty="0">
                <a:solidFill>
                  <a:srgbClr val="DFE5EC"/>
                </a:solidFill>
                <a:latin typeface="Noto Sans KR" pitchFamily="34" charset="0"/>
                <a:ea typeface="Noto Sans KR" pitchFamily="34" charset="-122"/>
                <a:cs typeface="Noto Sans KR" pitchFamily="34" charset="-120"/>
              </a:rPr>
              <a:t>임무 완료, 안전 복귀 또는 사용자 확인</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B2430"/>
                </a:solidFill>
                <a:latin typeface="Noto Sans KR" pitchFamily="34" charset="0"/>
                <a:ea typeface="Noto Sans KR" pitchFamily="34" charset="-122"/>
                <a:cs typeface="Noto Sans KR" pitchFamily="34" charset="-120"/>
              </a:rPr>
              <a:t>전체 시스템 흐름</a:t>
            </a:r>
            <a:endParaRPr lang="en-US" sz="3200" dirty="0"/>
          </a:p>
        </p:txBody>
      </p:sp>
      <p:sp>
        <p:nvSpPr>
          <p:cNvPr id="3" name="Shape 1"/>
          <p:cNvSpPr/>
          <p:nvPr/>
        </p:nvSpPr>
        <p:spPr>
          <a:xfrm>
            <a:off x="812800" y="1539230"/>
            <a:ext cx="10566400" cy="589260"/>
          </a:xfrm>
          <a:prstGeom prst="roundRect">
            <a:avLst>
              <a:gd name="adj" fmla="val 8621"/>
            </a:avLst>
          </a:prstGeom>
          <a:solidFill>
            <a:srgbClr val="FFFDF8"/>
          </a:solidFill>
          <a:ln/>
        </p:spPr>
        <p:txBody>
          <a:bodyPr/>
          <a:lstStyle/>
          <a:p>
            <a:endParaRPr lang="ko-KR" altLang="en-US"/>
          </a:p>
        </p:txBody>
      </p:sp>
      <p:sp>
        <p:nvSpPr>
          <p:cNvPr id="4" name="Shape 2"/>
          <p:cNvSpPr/>
          <p:nvPr/>
        </p:nvSpPr>
        <p:spPr>
          <a:xfrm>
            <a:off x="838200" y="1539230"/>
            <a:ext cx="0" cy="589260"/>
          </a:xfrm>
          <a:prstGeom prst="line">
            <a:avLst/>
          </a:prstGeom>
          <a:noFill/>
          <a:ln w="50800">
            <a:solidFill>
              <a:srgbClr val="2563D9"/>
            </a:solidFill>
            <a:prstDash val="solid"/>
          </a:ln>
        </p:spPr>
        <p:txBody>
          <a:bodyPr/>
          <a:lstStyle/>
          <a:p>
            <a:endParaRPr lang="ko-KR" altLang="en-US"/>
          </a:p>
        </p:txBody>
      </p:sp>
      <p:sp>
        <p:nvSpPr>
          <p:cNvPr id="5" name="Text 3"/>
          <p:cNvSpPr/>
          <p:nvPr/>
        </p:nvSpPr>
        <p:spPr>
          <a:xfrm>
            <a:off x="1092200" y="1691630"/>
            <a:ext cx="1036015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B2430"/>
                </a:solidFill>
                <a:latin typeface="Noto Sans KR" pitchFamily="34" charset="0"/>
                <a:ea typeface="Noto Sans KR" pitchFamily="34" charset="-122"/>
                <a:cs typeface="Noto Sans KR" pitchFamily="34" charset="-120"/>
              </a:rPr>
              <a:t>“파란 구역으로 이동해서 노트북이 있는지 확인하고 돌아와.”</a:t>
            </a:r>
            <a:endParaRPr lang="en-US" sz="1600" dirty="0"/>
          </a:p>
        </p:txBody>
      </p:sp>
      <p:sp>
        <p:nvSpPr>
          <p:cNvPr id="6" name="Shape 4"/>
          <p:cNvSpPr/>
          <p:nvPr/>
        </p:nvSpPr>
        <p:spPr>
          <a:xfrm>
            <a:off x="819150" y="2414240"/>
            <a:ext cx="1243707" cy="1010841"/>
          </a:xfrm>
          <a:prstGeom prst="roundRect">
            <a:avLst>
              <a:gd name="adj" fmla="val 9423"/>
            </a:avLst>
          </a:prstGeom>
          <a:solidFill>
            <a:srgbClr val="FFFDF8"/>
          </a:solidFill>
          <a:ln w="12700">
            <a:solidFill>
              <a:srgbClr val="CFD6DE"/>
            </a:solidFill>
            <a:prstDash val="solid"/>
          </a:ln>
        </p:spPr>
        <p:txBody>
          <a:bodyPr/>
          <a:lstStyle/>
          <a:p>
            <a:endParaRPr lang="ko-KR" altLang="en-US"/>
          </a:p>
        </p:txBody>
      </p:sp>
      <p:sp>
        <p:nvSpPr>
          <p:cNvPr id="7" name="Text 5"/>
          <p:cNvSpPr/>
          <p:nvPr/>
        </p:nvSpPr>
        <p:spPr>
          <a:xfrm>
            <a:off x="952500" y="2572990"/>
            <a:ext cx="102780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280"/>
                </a:solidFill>
                <a:latin typeface="Noto Sans KR" pitchFamily="34" charset="0"/>
                <a:ea typeface="Noto Sans KR" pitchFamily="34" charset="-122"/>
                <a:cs typeface="Noto Sans KR" pitchFamily="34" charset="-120"/>
              </a:rPr>
              <a:t>1</a:t>
            </a:r>
            <a:endParaRPr lang="en-US" sz="1200" dirty="0"/>
          </a:p>
        </p:txBody>
      </p:sp>
      <p:sp>
        <p:nvSpPr>
          <p:cNvPr id="8" name="Text 6"/>
          <p:cNvSpPr/>
          <p:nvPr/>
        </p:nvSpPr>
        <p:spPr>
          <a:xfrm>
            <a:off x="952500" y="2837111"/>
            <a:ext cx="1027807" cy="45462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1B2430"/>
                </a:solidFill>
                <a:latin typeface="Noto Sans KR" pitchFamily="34" charset="0"/>
                <a:ea typeface="Noto Sans KR" pitchFamily="34" charset="-122"/>
                <a:cs typeface="Noto Sans KR" pitchFamily="34" charset="-120"/>
              </a:rPr>
              <a:t>자연어</a:t>
            </a:r>
            <a:endParaRPr lang="en-US" sz="1300" dirty="0"/>
          </a:p>
          <a:p>
            <a:pPr marL="0" indent="0" algn="l">
              <a:lnSpc>
                <a:spcPts val="1690"/>
              </a:lnSpc>
              <a:buNone/>
            </a:pPr>
            <a:r>
              <a:rPr lang="en-US" sz="1300" b="1" dirty="0">
                <a:solidFill>
                  <a:srgbClr val="1B2430"/>
                </a:solidFill>
                <a:latin typeface="Noto Sans KR" pitchFamily="34" charset="0"/>
                <a:ea typeface="Noto Sans KR" pitchFamily="34" charset="-122"/>
                <a:cs typeface="Noto Sans KR" pitchFamily="34" charset="-120"/>
              </a:rPr>
              <a:t>명령 입력</a:t>
            </a:r>
            <a:endParaRPr lang="en-US" sz="1300" dirty="0"/>
          </a:p>
        </p:txBody>
      </p:sp>
      <p:sp>
        <p:nvSpPr>
          <p:cNvPr id="9" name="Text 7"/>
          <p:cNvSpPr/>
          <p:nvPr/>
        </p:nvSpPr>
        <p:spPr>
          <a:xfrm>
            <a:off x="2145407" y="2777430"/>
            <a:ext cx="112216"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8A93A0"/>
                </a:solidFill>
                <a:latin typeface="Noto Sans KR" pitchFamily="34" charset="0"/>
                <a:ea typeface="Noto Sans KR" pitchFamily="34" charset="-122"/>
                <a:cs typeface="Noto Sans KR" pitchFamily="34" charset="-120"/>
              </a:rPr>
              <a:t>›</a:t>
            </a:r>
            <a:endParaRPr lang="en-US" sz="1600" dirty="0"/>
          </a:p>
        </p:txBody>
      </p:sp>
      <p:sp>
        <p:nvSpPr>
          <p:cNvPr id="10" name="Shape 8"/>
          <p:cNvSpPr/>
          <p:nvPr/>
        </p:nvSpPr>
        <p:spPr>
          <a:xfrm>
            <a:off x="2289373" y="2414240"/>
            <a:ext cx="1243757" cy="1010841"/>
          </a:xfrm>
          <a:prstGeom prst="roundRect">
            <a:avLst>
              <a:gd name="adj" fmla="val 9423"/>
            </a:avLst>
          </a:prstGeom>
          <a:solidFill>
            <a:srgbClr val="E6EEFC"/>
          </a:solidFill>
          <a:ln w="12700">
            <a:solidFill>
              <a:srgbClr val="2563D9"/>
            </a:solidFill>
            <a:prstDash val="solid"/>
          </a:ln>
        </p:spPr>
        <p:txBody>
          <a:bodyPr/>
          <a:lstStyle/>
          <a:p>
            <a:endParaRPr lang="ko-KR" altLang="en-US"/>
          </a:p>
        </p:txBody>
      </p:sp>
      <p:sp>
        <p:nvSpPr>
          <p:cNvPr id="11" name="Text 9"/>
          <p:cNvSpPr/>
          <p:nvPr/>
        </p:nvSpPr>
        <p:spPr>
          <a:xfrm>
            <a:off x="2422723" y="2572990"/>
            <a:ext cx="102785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563D9"/>
                </a:solidFill>
                <a:latin typeface="Noto Sans KR" pitchFamily="34" charset="0"/>
                <a:ea typeface="Noto Sans KR" pitchFamily="34" charset="-122"/>
                <a:cs typeface="Noto Sans KR" pitchFamily="34" charset="-120"/>
              </a:rPr>
              <a:t>2</a:t>
            </a:r>
            <a:endParaRPr lang="en-US" sz="1200" dirty="0"/>
          </a:p>
        </p:txBody>
      </p:sp>
      <p:sp>
        <p:nvSpPr>
          <p:cNvPr id="12" name="Text 10"/>
          <p:cNvSpPr/>
          <p:nvPr/>
        </p:nvSpPr>
        <p:spPr>
          <a:xfrm>
            <a:off x="2422723" y="2837111"/>
            <a:ext cx="1027857" cy="45462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1B2430"/>
                </a:solidFill>
                <a:latin typeface="Noto Sans KR" pitchFamily="34" charset="0"/>
                <a:ea typeface="Noto Sans KR" pitchFamily="34" charset="-122"/>
                <a:cs typeface="Noto Sans KR" pitchFamily="34" charset="-120"/>
              </a:rPr>
              <a:t>LLM</a:t>
            </a:r>
            <a:endParaRPr lang="en-US" sz="1300" dirty="0"/>
          </a:p>
          <a:p>
            <a:pPr marL="0" indent="0" algn="l">
              <a:lnSpc>
                <a:spcPts val="1690"/>
              </a:lnSpc>
              <a:buNone/>
            </a:pPr>
            <a:r>
              <a:rPr lang="en-US" sz="1300" b="1" dirty="0">
                <a:solidFill>
                  <a:srgbClr val="1B2430"/>
                </a:solidFill>
                <a:latin typeface="Noto Sans KR" pitchFamily="34" charset="0"/>
                <a:ea typeface="Noto Sans KR" pitchFamily="34" charset="-122"/>
                <a:cs typeface="Noto Sans KR" pitchFamily="34" charset="-120"/>
              </a:rPr>
              <a:t>작업 분해</a:t>
            </a:r>
            <a:endParaRPr lang="en-US" sz="1300" dirty="0"/>
          </a:p>
        </p:txBody>
      </p:sp>
      <p:sp>
        <p:nvSpPr>
          <p:cNvPr id="13" name="Text 11"/>
          <p:cNvSpPr/>
          <p:nvPr/>
        </p:nvSpPr>
        <p:spPr>
          <a:xfrm>
            <a:off x="3615680" y="2777430"/>
            <a:ext cx="112216"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8A93A0"/>
                </a:solidFill>
                <a:latin typeface="Noto Sans KR" pitchFamily="34" charset="0"/>
                <a:ea typeface="Noto Sans KR" pitchFamily="34" charset="-122"/>
                <a:cs typeface="Noto Sans KR" pitchFamily="34" charset="-120"/>
              </a:rPr>
              <a:t>›</a:t>
            </a:r>
            <a:endParaRPr lang="en-US" sz="1600" dirty="0"/>
          </a:p>
        </p:txBody>
      </p:sp>
      <p:sp>
        <p:nvSpPr>
          <p:cNvPr id="14" name="Shape 12"/>
          <p:cNvSpPr/>
          <p:nvPr/>
        </p:nvSpPr>
        <p:spPr>
          <a:xfrm>
            <a:off x="3759646" y="2414240"/>
            <a:ext cx="1243707" cy="1010841"/>
          </a:xfrm>
          <a:prstGeom prst="roundRect">
            <a:avLst>
              <a:gd name="adj" fmla="val 9423"/>
            </a:avLst>
          </a:prstGeom>
          <a:solidFill>
            <a:srgbClr val="E3EFEC"/>
          </a:solidFill>
          <a:ln w="12700">
            <a:solidFill>
              <a:srgbClr val="2F7D6D"/>
            </a:solidFill>
            <a:prstDash val="solid"/>
          </a:ln>
        </p:spPr>
        <p:txBody>
          <a:bodyPr/>
          <a:lstStyle/>
          <a:p>
            <a:endParaRPr lang="ko-KR" altLang="en-US"/>
          </a:p>
        </p:txBody>
      </p:sp>
      <p:sp>
        <p:nvSpPr>
          <p:cNvPr id="15" name="Text 13"/>
          <p:cNvSpPr/>
          <p:nvPr/>
        </p:nvSpPr>
        <p:spPr>
          <a:xfrm>
            <a:off x="3892996" y="2572990"/>
            <a:ext cx="102780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F7D6D"/>
                </a:solidFill>
                <a:latin typeface="Noto Sans KR" pitchFamily="34" charset="0"/>
                <a:ea typeface="Noto Sans KR" pitchFamily="34" charset="-122"/>
                <a:cs typeface="Noto Sans KR" pitchFamily="34" charset="-120"/>
              </a:rPr>
              <a:t>3</a:t>
            </a:r>
            <a:endParaRPr lang="en-US" sz="1200" dirty="0"/>
          </a:p>
        </p:txBody>
      </p:sp>
      <p:sp>
        <p:nvSpPr>
          <p:cNvPr id="16" name="Text 14"/>
          <p:cNvSpPr/>
          <p:nvPr/>
        </p:nvSpPr>
        <p:spPr>
          <a:xfrm>
            <a:off x="3892996" y="2837111"/>
            <a:ext cx="1027807" cy="45462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1B2430"/>
                </a:solidFill>
                <a:latin typeface="Noto Sans KR" pitchFamily="34" charset="0"/>
                <a:ea typeface="Noto Sans KR" pitchFamily="34" charset="-122"/>
                <a:cs typeface="Noto Sans KR" pitchFamily="34" charset="-120"/>
              </a:rPr>
              <a:t>Go2</a:t>
            </a:r>
            <a:endParaRPr lang="en-US" sz="1300" dirty="0"/>
          </a:p>
          <a:p>
            <a:pPr marL="0" indent="0" algn="l">
              <a:lnSpc>
                <a:spcPts val="1690"/>
              </a:lnSpc>
              <a:buNone/>
            </a:pPr>
            <a:r>
              <a:rPr lang="en-US" sz="1300" b="1" dirty="0">
                <a:solidFill>
                  <a:srgbClr val="1B2430"/>
                </a:solidFill>
                <a:latin typeface="Noto Sans KR" pitchFamily="34" charset="0"/>
                <a:ea typeface="Noto Sans KR" pitchFamily="34" charset="-122"/>
                <a:cs typeface="Noto Sans KR" pitchFamily="34" charset="-120"/>
              </a:rPr>
              <a:t>이동</a:t>
            </a:r>
            <a:endParaRPr lang="en-US" sz="1300" dirty="0"/>
          </a:p>
        </p:txBody>
      </p:sp>
      <p:sp>
        <p:nvSpPr>
          <p:cNvPr id="17" name="Text 15"/>
          <p:cNvSpPr/>
          <p:nvPr/>
        </p:nvSpPr>
        <p:spPr>
          <a:xfrm>
            <a:off x="5085904" y="2777430"/>
            <a:ext cx="112216"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8A93A0"/>
                </a:solidFill>
                <a:latin typeface="Noto Sans KR" pitchFamily="34" charset="0"/>
                <a:ea typeface="Noto Sans KR" pitchFamily="34" charset="-122"/>
                <a:cs typeface="Noto Sans KR" pitchFamily="34" charset="-120"/>
              </a:rPr>
              <a:t>›</a:t>
            </a:r>
            <a:endParaRPr lang="en-US" sz="1600" dirty="0"/>
          </a:p>
        </p:txBody>
      </p:sp>
      <p:sp>
        <p:nvSpPr>
          <p:cNvPr id="18" name="Shape 16"/>
          <p:cNvSpPr/>
          <p:nvPr/>
        </p:nvSpPr>
        <p:spPr>
          <a:xfrm>
            <a:off x="5229870" y="2414240"/>
            <a:ext cx="1243757" cy="1010841"/>
          </a:xfrm>
          <a:prstGeom prst="roundRect">
            <a:avLst>
              <a:gd name="adj" fmla="val 9423"/>
            </a:avLst>
          </a:prstGeom>
          <a:solidFill>
            <a:srgbClr val="E3EFEC"/>
          </a:solidFill>
          <a:ln w="12700">
            <a:solidFill>
              <a:srgbClr val="2F7D6D"/>
            </a:solidFill>
            <a:prstDash val="solid"/>
          </a:ln>
        </p:spPr>
        <p:txBody>
          <a:bodyPr/>
          <a:lstStyle/>
          <a:p>
            <a:endParaRPr lang="ko-KR" altLang="en-US"/>
          </a:p>
        </p:txBody>
      </p:sp>
      <p:sp>
        <p:nvSpPr>
          <p:cNvPr id="19" name="Text 17"/>
          <p:cNvSpPr/>
          <p:nvPr/>
        </p:nvSpPr>
        <p:spPr>
          <a:xfrm>
            <a:off x="5363220" y="2572990"/>
            <a:ext cx="102785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F7D6D"/>
                </a:solidFill>
                <a:latin typeface="Noto Sans KR" pitchFamily="34" charset="0"/>
                <a:ea typeface="Noto Sans KR" pitchFamily="34" charset="-122"/>
                <a:cs typeface="Noto Sans KR" pitchFamily="34" charset="-120"/>
              </a:rPr>
              <a:t>4</a:t>
            </a:r>
            <a:endParaRPr lang="en-US" sz="1200" dirty="0"/>
          </a:p>
        </p:txBody>
      </p:sp>
      <p:sp>
        <p:nvSpPr>
          <p:cNvPr id="20" name="Text 18"/>
          <p:cNvSpPr/>
          <p:nvPr/>
        </p:nvSpPr>
        <p:spPr>
          <a:xfrm>
            <a:off x="5363220" y="2837111"/>
            <a:ext cx="1027857" cy="45462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1B2430"/>
                </a:solidFill>
                <a:latin typeface="Noto Sans KR" pitchFamily="34" charset="0"/>
                <a:ea typeface="Noto Sans KR" pitchFamily="34" charset="-122"/>
                <a:cs typeface="Noto Sans KR" pitchFamily="34" charset="-120"/>
              </a:rPr>
              <a:t>카메라</a:t>
            </a:r>
            <a:endParaRPr lang="en-US" sz="1300" dirty="0"/>
          </a:p>
          <a:p>
            <a:pPr marL="0" indent="0" algn="l">
              <a:lnSpc>
                <a:spcPts val="1690"/>
              </a:lnSpc>
              <a:buNone/>
            </a:pPr>
            <a:r>
              <a:rPr lang="en-US" sz="1300" b="1" dirty="0">
                <a:solidFill>
                  <a:srgbClr val="1B2430"/>
                </a:solidFill>
                <a:latin typeface="Noto Sans KR" pitchFamily="34" charset="0"/>
                <a:ea typeface="Noto Sans KR" pitchFamily="34" charset="-122"/>
                <a:cs typeface="Noto Sans KR" pitchFamily="34" charset="-120"/>
              </a:rPr>
              <a:t>YOLO 탐지</a:t>
            </a:r>
            <a:endParaRPr lang="en-US" sz="1300" dirty="0"/>
          </a:p>
        </p:txBody>
      </p:sp>
      <p:sp>
        <p:nvSpPr>
          <p:cNvPr id="21" name="Text 19"/>
          <p:cNvSpPr/>
          <p:nvPr/>
        </p:nvSpPr>
        <p:spPr>
          <a:xfrm>
            <a:off x="6556177" y="2777430"/>
            <a:ext cx="112216"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8A93A0"/>
                </a:solidFill>
                <a:latin typeface="Noto Sans KR" pitchFamily="34" charset="0"/>
                <a:ea typeface="Noto Sans KR" pitchFamily="34" charset="-122"/>
                <a:cs typeface="Noto Sans KR" pitchFamily="34" charset="-120"/>
              </a:rPr>
              <a:t>›</a:t>
            </a:r>
            <a:endParaRPr lang="en-US" sz="1600" dirty="0"/>
          </a:p>
        </p:txBody>
      </p:sp>
      <p:sp>
        <p:nvSpPr>
          <p:cNvPr id="22" name="Shape 20"/>
          <p:cNvSpPr/>
          <p:nvPr/>
        </p:nvSpPr>
        <p:spPr>
          <a:xfrm>
            <a:off x="6700143" y="2414240"/>
            <a:ext cx="1243707" cy="1010841"/>
          </a:xfrm>
          <a:prstGeom prst="roundRect">
            <a:avLst>
              <a:gd name="adj" fmla="val 9423"/>
            </a:avLst>
          </a:prstGeom>
          <a:solidFill>
            <a:srgbClr val="E3EFEC"/>
          </a:solidFill>
          <a:ln w="12700">
            <a:solidFill>
              <a:srgbClr val="2F7D6D"/>
            </a:solidFill>
            <a:prstDash val="solid"/>
          </a:ln>
        </p:spPr>
        <p:txBody>
          <a:bodyPr/>
          <a:lstStyle/>
          <a:p>
            <a:endParaRPr lang="ko-KR" altLang="en-US"/>
          </a:p>
        </p:txBody>
      </p:sp>
      <p:sp>
        <p:nvSpPr>
          <p:cNvPr id="23" name="Text 21"/>
          <p:cNvSpPr/>
          <p:nvPr/>
        </p:nvSpPr>
        <p:spPr>
          <a:xfrm>
            <a:off x="6833493" y="2572990"/>
            <a:ext cx="102780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F7D6D"/>
                </a:solidFill>
                <a:latin typeface="Noto Sans KR" pitchFamily="34" charset="0"/>
                <a:ea typeface="Noto Sans KR" pitchFamily="34" charset="-122"/>
                <a:cs typeface="Noto Sans KR" pitchFamily="34" charset="-120"/>
              </a:rPr>
              <a:t>5</a:t>
            </a:r>
            <a:endParaRPr lang="en-US" sz="1200" dirty="0"/>
          </a:p>
        </p:txBody>
      </p:sp>
      <p:sp>
        <p:nvSpPr>
          <p:cNvPr id="24" name="Text 22"/>
          <p:cNvSpPr/>
          <p:nvPr/>
        </p:nvSpPr>
        <p:spPr>
          <a:xfrm>
            <a:off x="6833493" y="2837111"/>
            <a:ext cx="1027807" cy="45462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1B2430"/>
                </a:solidFill>
                <a:latin typeface="Noto Sans KR" pitchFamily="34" charset="0"/>
                <a:ea typeface="Noto Sans KR" pitchFamily="34" charset="-122"/>
                <a:cs typeface="Noto Sans KR" pitchFamily="34" charset="-120"/>
              </a:rPr>
              <a:t>상태값</a:t>
            </a:r>
            <a:endParaRPr lang="en-US" sz="1300" dirty="0"/>
          </a:p>
          <a:p>
            <a:pPr marL="0" indent="0" algn="l">
              <a:lnSpc>
                <a:spcPts val="1690"/>
              </a:lnSpc>
              <a:buNone/>
            </a:pPr>
            <a:r>
              <a:rPr lang="en-US" sz="1300" b="1" dirty="0">
                <a:solidFill>
                  <a:srgbClr val="1B2430"/>
                </a:solidFill>
                <a:latin typeface="Noto Sans KR" pitchFamily="34" charset="0"/>
                <a:ea typeface="Noto Sans KR" pitchFamily="34" charset="-122"/>
                <a:cs typeface="Noto Sans KR" pitchFamily="34" charset="-120"/>
              </a:rPr>
              <a:t>전달</a:t>
            </a:r>
            <a:endParaRPr lang="en-US" sz="1300" dirty="0"/>
          </a:p>
        </p:txBody>
      </p:sp>
      <p:sp>
        <p:nvSpPr>
          <p:cNvPr id="25" name="Text 23"/>
          <p:cNvSpPr/>
          <p:nvPr/>
        </p:nvSpPr>
        <p:spPr>
          <a:xfrm>
            <a:off x="8026400" y="2777430"/>
            <a:ext cx="112216"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8A93A0"/>
                </a:solidFill>
                <a:latin typeface="Noto Sans KR" pitchFamily="34" charset="0"/>
                <a:ea typeface="Noto Sans KR" pitchFamily="34" charset="-122"/>
                <a:cs typeface="Noto Sans KR" pitchFamily="34" charset="-120"/>
              </a:rPr>
              <a:t>›</a:t>
            </a:r>
            <a:endParaRPr lang="en-US" sz="1600" dirty="0"/>
          </a:p>
        </p:txBody>
      </p:sp>
      <p:sp>
        <p:nvSpPr>
          <p:cNvPr id="26" name="Shape 24"/>
          <p:cNvSpPr/>
          <p:nvPr/>
        </p:nvSpPr>
        <p:spPr>
          <a:xfrm>
            <a:off x="8170366" y="2414240"/>
            <a:ext cx="1243707" cy="1010841"/>
          </a:xfrm>
          <a:prstGeom prst="roundRect">
            <a:avLst>
              <a:gd name="adj" fmla="val 9423"/>
            </a:avLst>
          </a:prstGeom>
          <a:solidFill>
            <a:srgbClr val="E6EEFC"/>
          </a:solidFill>
          <a:ln w="12700">
            <a:solidFill>
              <a:srgbClr val="2563D9"/>
            </a:solidFill>
            <a:prstDash val="solid"/>
          </a:ln>
        </p:spPr>
        <p:txBody>
          <a:bodyPr/>
          <a:lstStyle/>
          <a:p>
            <a:endParaRPr lang="ko-KR" altLang="en-US"/>
          </a:p>
        </p:txBody>
      </p:sp>
      <p:sp>
        <p:nvSpPr>
          <p:cNvPr id="27" name="Text 25"/>
          <p:cNvSpPr/>
          <p:nvPr/>
        </p:nvSpPr>
        <p:spPr>
          <a:xfrm>
            <a:off x="8303716" y="2572990"/>
            <a:ext cx="102780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563D9"/>
                </a:solidFill>
                <a:latin typeface="Noto Sans KR" pitchFamily="34" charset="0"/>
                <a:ea typeface="Noto Sans KR" pitchFamily="34" charset="-122"/>
                <a:cs typeface="Noto Sans KR" pitchFamily="34" charset="-120"/>
              </a:rPr>
              <a:t>6</a:t>
            </a:r>
            <a:endParaRPr lang="en-US" sz="1200" dirty="0"/>
          </a:p>
        </p:txBody>
      </p:sp>
      <p:sp>
        <p:nvSpPr>
          <p:cNvPr id="28" name="Text 26"/>
          <p:cNvSpPr/>
          <p:nvPr/>
        </p:nvSpPr>
        <p:spPr>
          <a:xfrm>
            <a:off x="8303716" y="2837111"/>
            <a:ext cx="1027807" cy="45462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1B2430"/>
                </a:solidFill>
                <a:latin typeface="Noto Sans KR" pitchFamily="34" charset="0"/>
                <a:ea typeface="Noto Sans KR" pitchFamily="34" charset="-122"/>
                <a:cs typeface="Noto Sans KR" pitchFamily="34" charset="-120"/>
              </a:rPr>
              <a:t>다음 행동</a:t>
            </a:r>
            <a:endParaRPr lang="en-US" sz="1300" dirty="0"/>
          </a:p>
          <a:p>
            <a:pPr marL="0" indent="0" algn="l">
              <a:lnSpc>
                <a:spcPts val="1690"/>
              </a:lnSpc>
              <a:buNone/>
            </a:pPr>
            <a:r>
              <a:rPr lang="en-US" sz="1300" b="1" dirty="0">
                <a:solidFill>
                  <a:srgbClr val="1B2430"/>
                </a:solidFill>
                <a:latin typeface="Noto Sans KR" pitchFamily="34" charset="0"/>
                <a:ea typeface="Noto Sans KR" pitchFamily="34" charset="-122"/>
                <a:cs typeface="Noto Sans KR" pitchFamily="34" charset="-120"/>
              </a:rPr>
              <a:t>결정</a:t>
            </a:r>
            <a:endParaRPr lang="en-US" sz="1300" dirty="0"/>
          </a:p>
        </p:txBody>
      </p:sp>
      <p:sp>
        <p:nvSpPr>
          <p:cNvPr id="29" name="Text 27"/>
          <p:cNvSpPr/>
          <p:nvPr/>
        </p:nvSpPr>
        <p:spPr>
          <a:xfrm>
            <a:off x="9496623" y="2777430"/>
            <a:ext cx="112216"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8A93A0"/>
                </a:solidFill>
                <a:latin typeface="Noto Sans KR" pitchFamily="34" charset="0"/>
                <a:ea typeface="Noto Sans KR" pitchFamily="34" charset="-122"/>
                <a:cs typeface="Noto Sans KR" pitchFamily="34" charset="-120"/>
              </a:rPr>
              <a:t>›</a:t>
            </a:r>
            <a:endParaRPr lang="en-US" sz="1600" dirty="0"/>
          </a:p>
        </p:txBody>
      </p:sp>
      <p:sp>
        <p:nvSpPr>
          <p:cNvPr id="30" name="Shape 28"/>
          <p:cNvSpPr/>
          <p:nvPr/>
        </p:nvSpPr>
        <p:spPr>
          <a:xfrm>
            <a:off x="9640590" y="2414240"/>
            <a:ext cx="1732260" cy="1010841"/>
          </a:xfrm>
          <a:prstGeom prst="roundRect">
            <a:avLst>
              <a:gd name="adj" fmla="val 9423"/>
            </a:avLst>
          </a:prstGeom>
          <a:solidFill>
            <a:srgbClr val="14202E"/>
          </a:solidFill>
          <a:ln w="12700">
            <a:solidFill>
              <a:srgbClr val="14202E"/>
            </a:solidFill>
            <a:prstDash val="solid"/>
          </a:ln>
        </p:spPr>
        <p:txBody>
          <a:bodyPr/>
          <a:lstStyle/>
          <a:p>
            <a:endParaRPr lang="ko-KR" altLang="en-US"/>
          </a:p>
        </p:txBody>
      </p:sp>
      <p:sp>
        <p:nvSpPr>
          <p:cNvPr id="31" name="Text 29"/>
          <p:cNvSpPr/>
          <p:nvPr/>
        </p:nvSpPr>
        <p:spPr>
          <a:xfrm>
            <a:off x="9773940" y="2572990"/>
            <a:ext cx="15163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FA8FF"/>
                </a:solidFill>
                <a:latin typeface="Noto Sans KR" pitchFamily="34" charset="0"/>
                <a:ea typeface="Noto Sans KR" pitchFamily="34" charset="-122"/>
                <a:cs typeface="Noto Sans KR" pitchFamily="34" charset="-120"/>
              </a:rPr>
              <a:t>7</a:t>
            </a:r>
            <a:endParaRPr lang="en-US" sz="1200" dirty="0"/>
          </a:p>
        </p:txBody>
      </p:sp>
      <p:sp>
        <p:nvSpPr>
          <p:cNvPr id="32" name="Text 30"/>
          <p:cNvSpPr/>
          <p:nvPr/>
        </p:nvSpPr>
        <p:spPr>
          <a:xfrm>
            <a:off x="9773940" y="2837111"/>
            <a:ext cx="1516360" cy="45462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F5F3EE"/>
                </a:solidFill>
                <a:latin typeface="Noto Sans KR" pitchFamily="34" charset="0"/>
                <a:ea typeface="Noto Sans KR" pitchFamily="34" charset="-122"/>
                <a:cs typeface="Noto Sans KR" pitchFamily="34" charset="-120"/>
              </a:rPr>
              <a:t>임무 완료·복귀</a:t>
            </a:r>
            <a:endParaRPr lang="en-US" sz="1300" dirty="0"/>
          </a:p>
          <a:p>
            <a:pPr marL="0" indent="0" algn="l">
              <a:lnSpc>
                <a:spcPts val="1690"/>
              </a:lnSpc>
              <a:buNone/>
            </a:pPr>
            <a:r>
              <a:rPr lang="en-US" sz="1300" b="1" dirty="0">
                <a:solidFill>
                  <a:srgbClr val="F5F3EE"/>
                </a:solidFill>
                <a:latin typeface="Noto Sans KR" pitchFamily="34" charset="0"/>
                <a:ea typeface="Noto Sans KR" pitchFamily="34" charset="-122"/>
                <a:cs typeface="Noto Sans KR" pitchFamily="34" charset="-120"/>
              </a:rPr>
              <a:t>또는 사용자 확인</a:t>
            </a:r>
            <a:endParaRPr lang="en-US" sz="1300" dirty="0"/>
          </a:p>
        </p:txBody>
      </p:sp>
      <p:sp>
        <p:nvSpPr>
          <p:cNvPr id="33" name="Text 31"/>
          <p:cNvSpPr/>
          <p:nvPr/>
        </p:nvSpPr>
        <p:spPr>
          <a:xfrm>
            <a:off x="812800" y="3710831"/>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563D9"/>
                </a:solidFill>
                <a:latin typeface="Noto Sans KR" pitchFamily="34" charset="0"/>
                <a:ea typeface="Noto Sans KR" pitchFamily="34" charset="-122"/>
                <a:cs typeface="Noto Sans KR" pitchFamily="34" charset="-120"/>
              </a:rPr>
              <a:t>LLM 작업 분해 결과 (예시)</a:t>
            </a:r>
            <a:endParaRPr lang="en-US" sz="1400" dirty="0"/>
          </a:p>
        </p:txBody>
      </p:sp>
      <p:sp>
        <p:nvSpPr>
          <p:cNvPr id="34" name="Text 32"/>
          <p:cNvSpPr/>
          <p:nvPr/>
        </p:nvSpPr>
        <p:spPr>
          <a:xfrm>
            <a:off x="812800" y="4086721"/>
            <a:ext cx="10883392" cy="3276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1B2430"/>
                </a:solidFill>
                <a:latin typeface="JetBrains Mono" pitchFamily="34" charset="0"/>
                <a:ea typeface="JetBrains Mono" pitchFamily="34" charset="-122"/>
                <a:cs typeface="JetBrains Mono" pitchFamily="34" charset="-120"/>
              </a:rPr>
              <a:t>BLUE로 이동 → 노트북 탐색 → 탐지 결과 판단 → HOME 복귀 → 정지</a:t>
            </a:r>
            <a:endParaRPr lang="en-US" sz="1700" dirty="0"/>
          </a:p>
        </p:txBody>
      </p:sp>
      <p:sp>
        <p:nvSpPr>
          <p:cNvPr id="35" name="Text 33"/>
          <p:cNvSpPr/>
          <p:nvPr/>
        </p:nvSpPr>
        <p:spPr>
          <a:xfrm>
            <a:off x="812800" y="4515941"/>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2563D9"/>
                </a:solidFill>
                <a:latin typeface="Noto Sans KR" pitchFamily="34" charset="0"/>
                <a:ea typeface="Noto Sans KR" pitchFamily="34" charset="-122"/>
                <a:cs typeface="Noto Sans KR" pitchFamily="34" charset="-120"/>
              </a:rPr>
              <a:t>■</a:t>
            </a:r>
            <a:r>
              <a:rPr lang="en-US" sz="1500" dirty="0">
                <a:solidFill>
                  <a:srgbClr val="3D4754"/>
                </a:solidFill>
                <a:latin typeface="Noto Sans KR" pitchFamily="34" charset="0"/>
                <a:ea typeface="Noto Sans KR" pitchFamily="34" charset="-122"/>
                <a:cs typeface="Noto Sans KR" pitchFamily="34" charset="-120"/>
              </a:rPr>
              <a:t> 판단 모듈(Rule·LLM)    </a:t>
            </a:r>
            <a:r>
              <a:rPr lang="en-US" sz="1500" dirty="0">
                <a:solidFill>
                  <a:srgbClr val="2F7D6D"/>
                </a:solidFill>
                <a:latin typeface="Noto Sans KR" pitchFamily="34" charset="0"/>
                <a:ea typeface="Noto Sans KR" pitchFamily="34" charset="-122"/>
                <a:cs typeface="Noto Sans KR" pitchFamily="34" charset="-120"/>
              </a:rPr>
              <a:t>■</a:t>
            </a:r>
            <a:r>
              <a:rPr lang="en-US" sz="1500" dirty="0">
                <a:solidFill>
                  <a:srgbClr val="3D4754"/>
                </a:solidFill>
                <a:latin typeface="Noto Sans KR" pitchFamily="34" charset="0"/>
                <a:ea typeface="Noto Sans KR" pitchFamily="34" charset="-122"/>
                <a:cs typeface="Noto Sans KR" pitchFamily="34" charset="-120"/>
              </a:rPr>
              <a:t> 로봇 실행부(Navigation·Vision)</a:t>
            </a:r>
            <a:endParaRPr lang="en-US" sz="1500" dirty="0"/>
          </a:p>
        </p:txBody>
      </p:sp>
      <p:sp>
        <p:nvSpPr>
          <p:cNvPr id="36" name="Text 34"/>
          <p:cNvSpPr/>
          <p:nvPr/>
        </p:nvSpPr>
        <p:spPr>
          <a:xfrm>
            <a:off x="812800" y="4909641"/>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D4754"/>
                </a:solidFill>
                <a:latin typeface="Noto Sans KR" pitchFamily="34" charset="0"/>
                <a:ea typeface="Noto Sans KR" pitchFamily="34" charset="-122"/>
                <a:cs typeface="Noto Sans KR" pitchFamily="34" charset="-120"/>
              </a:rPr>
              <a:t>③~⑥은 임무가 끝날 때까지 반복</a:t>
            </a:r>
            <a:endParaRPr lang="en-US" sz="1500" dirty="0"/>
          </a:p>
        </p:txBody>
      </p:sp>
    </p:spTree>
  </p:cSld>
  <p:clrMapOvr>
    <a:masterClrMapping/>
  </p:clrMapOvr>
</p:sld>
</file>

<file path=ppt/slides/slide4.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4">
    <p:bg>
      <p:bgPr shadeToTitle="0">
        <a:solidFill>
          <a:srgbClr val="14202e"/>
        </a:solidFill>
      </p:bgPr>
    </p:bg>
    <p:spTree>
      <p:nvGrpSpPr>
        <p:cNvPr id="1" name=""/>
        <p:cNvGrpSpPr/>
        <p:nvPr/>
      </p:nvGrpSpPr>
      <p:grpSpPr>
        <a:xfrm>
          <a:off x="0" y="0"/>
          <a:ext cx="0" cy="0"/>
          <a:chOff x="0" y="0"/>
          <a:chExt cx="0" cy="0"/>
        </a:xfrm>
      </p:grpSpPr>
      <p:sp>
        <p:nvSpPr>
          <p:cNvPr id="2" name="Text 0"/>
          <p:cNvSpPr/>
          <p:nvPr/>
        </p:nvSpPr>
        <p:spPr>
          <a:xfrm>
            <a:off x="812800" y="812800"/>
            <a:ext cx="10883392" cy="472430"/>
          </a:xfrm>
          <a:prstGeom prst="rect">
            <a:avLst/>
          </a:prstGeom>
          <a:noFill/>
          <a:ln/>
        </p:spPr>
        <p:txBody>
          <a:bodyPr wrap="square" lIns="0" tIns="0" rIns="0" bIns="0" anchor="t">
            <a:normAutofit/>
          </a:bodyPr>
          <a:lstStyle/>
          <a:p>
            <a:pPr marL="0" indent="0" algn="l">
              <a:lnSpc>
                <a:spcPts val="3520"/>
              </a:lnSpc>
              <a:buNone/>
              <a:defRPr/>
            </a:pPr>
            <a:r>
              <a:rPr lang="en-US" sz="3200" b="1">
                <a:solidFill>
                  <a:srgbClr val="f5f3ee"/>
                </a:solidFill>
                <a:latin typeface="Noto Sans KR"/>
                <a:ea typeface="Noto Sans KR"/>
                <a:cs typeface="Noto Sans KR"/>
              </a:rPr>
              <a:t>행동</a:t>
            </a:r>
            <a:r>
              <a:rPr lang="ko-KR" altLang="en-US" sz="3200" b="1">
                <a:solidFill>
                  <a:srgbClr val="f5f3ee"/>
                </a:solidFill>
                <a:latin typeface="Noto Sans KR"/>
                <a:ea typeface="Noto Sans KR"/>
                <a:cs typeface="Noto Sans KR"/>
              </a:rPr>
              <a:t>에 영향을 주는 상태값</a:t>
            </a:r>
            <a:endParaRPr lang="ko-KR" altLang="en-US" sz="3200" b="1">
              <a:solidFill>
                <a:srgbClr val="f5f3ee"/>
              </a:solidFill>
              <a:latin typeface="Noto Sans KR"/>
              <a:ea typeface="Noto Sans KR"/>
              <a:cs typeface="Noto Sans KR"/>
            </a:endParaRPr>
          </a:p>
        </p:txBody>
      </p:sp>
      <p:graphicFrame>
        <p:nvGraphicFramePr>
          <p:cNvPr id="3" name="Table 0"/>
          <p:cNvGraphicFramePr>
            <a:graphicFrameLocks noGrp="1"/>
          </p:cNvGraphicFramePr>
          <p:nvPr/>
        </p:nvGraphicFramePr>
        <p:xfrm>
          <a:off x="833819" y="1564629"/>
          <a:ext cx="8593959" cy="3469823"/>
        </p:xfrm>
        <a:graphic>
          <a:graphicData uri="http://schemas.openxmlformats.org/drawingml/2006/table">
            <a:tbl>
              <a:tblGrid>
                <a:gridCol w="2864653"/>
                <a:gridCol w="2864653"/>
                <a:gridCol w="2864653"/>
              </a:tblGrid>
              <a:tr h="495689">
                <a:tc>
                  <a:txBody>
                    <a:bodyPr vert="horz" lIns="101600" tIns="88900" rIns="101600" bIns="88900" anchor="t" anchorCtr="0"/>
                    <a:p>
                      <a:pPr marL="0" indent="0">
                        <a:lnSpc>
                          <a:spcPts val="1820"/>
                        </a:lnSpc>
                        <a:buNone/>
                        <a:defRPr/>
                      </a:pPr>
                      <a:r>
                        <a:rPr lang="en-US" sz="1300" b="1">
                          <a:solidFill>
                            <a:srgbClr val="a9b4c2"/>
                          </a:solidFill>
                          <a:latin typeface="Noto Sans KR"/>
                          <a:ea typeface="Noto Sans KR"/>
                          <a:cs typeface="Noto Sans KR"/>
                        </a:rPr>
                        <a:t>상태</a:t>
                      </a:r>
                      <a:endParaRPr lang="en-US" sz="1300">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solidFill>
                      <a:srgbClr val="26313d"/>
                    </a:solidFill>
                  </a:tcPr>
                </a:tc>
                <a:tc>
                  <a:txBody>
                    <a:bodyPr vert="horz" lIns="101600" tIns="88900" rIns="101600" bIns="88900" anchor="t" anchorCtr="0"/>
                    <a:p>
                      <a:pPr marL="0" indent="0">
                        <a:lnSpc>
                          <a:spcPts val="1820"/>
                        </a:lnSpc>
                        <a:buNone/>
                        <a:defRPr/>
                      </a:pPr>
                      <a:r>
                        <a:rPr lang="en-US" sz="1300" b="1">
                          <a:solidFill>
                            <a:srgbClr val="a9b4c2"/>
                          </a:solidFill>
                          <a:latin typeface="Noto Sans KR"/>
                          <a:ea typeface="Noto Sans KR"/>
                          <a:cs typeface="Noto Sans KR"/>
                        </a:rPr>
                        <a:t>의미</a:t>
                      </a:r>
                      <a:endParaRPr lang="en-US" sz="1300">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solidFill>
                      <a:srgbClr val="26313d"/>
                    </a:solidFill>
                  </a:tcPr>
                </a:tc>
                <a:tc>
                  <a:txBody>
                    <a:bodyPr vert="horz" lIns="101600" tIns="88900" rIns="101600" bIns="88900" anchor="t" anchorCtr="0"/>
                    <a:p>
                      <a:pPr marL="0" indent="0">
                        <a:lnSpc>
                          <a:spcPts val="1820"/>
                        </a:lnSpc>
                        <a:buNone/>
                        <a:defRPr/>
                      </a:pPr>
                      <a:r>
                        <a:rPr lang="en-US" sz="1300" b="1">
                          <a:solidFill>
                            <a:srgbClr val="a9b4c2"/>
                          </a:solidFill>
                          <a:latin typeface="Noto Sans KR"/>
                          <a:ea typeface="Noto Sans KR"/>
                          <a:cs typeface="Noto Sans KR"/>
                        </a:rPr>
                        <a:t>다음 행동</a:t>
                      </a:r>
                      <a:endParaRPr lang="en-US" sz="1300">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solidFill>
                      <a:srgbClr val="26313d"/>
                    </a:solidFill>
                  </a:tcPr>
                </a:tc>
              </a:tr>
              <a:tr h="495689">
                <a:tc>
                  <a:txBody>
                    <a:bodyPr vert="horz" lIns="101600" tIns="88900" rIns="101600" bIns="88900" anchor="t" anchorCtr="0"/>
                    <a:p>
                      <a:pPr marL="0" indent="0">
                        <a:lnSpc>
                          <a:spcPts val="1820"/>
                        </a:lnSpc>
                        <a:buNone/>
                        <a:defRPr/>
                      </a:pPr>
                      <a:r>
                        <a:rPr lang="en-US" sz="1300">
                          <a:solidFill>
                            <a:srgbClr val="7fa8ff"/>
                          </a:solidFill>
                          <a:latin typeface="Noto Sans KR"/>
                          <a:ea typeface="Noto Sans KR"/>
                          <a:cs typeface="Noto Sans KR"/>
                        </a:rPr>
                        <a:t>REACHED</a:t>
                      </a:r>
                      <a:endParaRPr lang="en-US" sz="1300">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tcPr>
                </a:tc>
                <a:tc>
                  <a:txBody>
                    <a:bodyPr vert="horz" lIns="101600" tIns="88900" rIns="101600" bIns="88900" anchor="t" anchorCtr="0"/>
                    <a:p>
                      <a:pPr marL="0" indent="0">
                        <a:lnSpc>
                          <a:spcPts val="1820"/>
                        </a:lnSpc>
                        <a:buNone/>
                        <a:defRPr/>
                      </a:pPr>
                      <a:r>
                        <a:rPr lang="en-US" sz="1300">
                          <a:solidFill>
                            <a:srgbClr val="f5f3ee"/>
                          </a:solidFill>
                          <a:latin typeface="Noto Sans KR"/>
                          <a:ea typeface="Noto Sans KR"/>
                          <a:cs typeface="Noto Sans KR"/>
                        </a:rPr>
                        <a:t>목적지 도착</a:t>
                      </a:r>
                      <a:endParaRPr lang="en-US" sz="1300">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tcPr>
                </a:tc>
                <a:tc>
                  <a:txBody>
                    <a:bodyPr vert="horz" lIns="101600" tIns="88900" rIns="101600" bIns="88900" anchor="t" anchorCtr="0"/>
                    <a:p>
                      <a:pPr marL="0" indent="0">
                        <a:lnSpc>
                          <a:spcPts val="1820"/>
                        </a:lnSpc>
                        <a:buNone/>
                        <a:defRPr/>
                      </a:pPr>
                      <a:r>
                        <a:rPr lang="en-US" sz="1300">
                          <a:solidFill>
                            <a:srgbClr val="f5f3ee"/>
                          </a:solidFill>
                          <a:latin typeface="Noto Sans KR"/>
                          <a:ea typeface="Noto Sans KR"/>
                          <a:cs typeface="Noto Sans KR"/>
                        </a:rPr>
                        <a:t>관찰 또는 다음 위치로 이동</a:t>
                      </a:r>
                      <a:endParaRPr lang="en-US" sz="1300">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tcPr>
                </a:tc>
              </a:tr>
              <a:tr h="495689">
                <a:tc>
                  <a:txBody>
                    <a:bodyPr vert="horz" lIns="101600" tIns="88900" rIns="101600" bIns="88900" anchor="t" anchorCtr="0"/>
                    <a:p>
                      <a:pPr marL="0" indent="0">
                        <a:lnSpc>
                          <a:spcPts val="1820"/>
                        </a:lnSpc>
                        <a:buNone/>
                        <a:defRPr/>
                      </a:pPr>
                      <a:r>
                        <a:rPr lang="en-US" sz="1300">
                          <a:solidFill>
                            <a:srgbClr val="7fa8ff"/>
                          </a:solidFill>
                          <a:latin typeface="Noto Sans KR"/>
                          <a:ea typeface="Noto Sans KR"/>
                          <a:cs typeface="Noto Sans KR"/>
                        </a:rPr>
                        <a:t>TARGET_FOUND</a:t>
                      </a:r>
                      <a:endParaRPr lang="en-US" sz="1300">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tcPr>
                </a:tc>
                <a:tc>
                  <a:txBody>
                    <a:bodyPr vert="horz" lIns="101600" tIns="88900" rIns="101600" bIns="88900" anchor="t" anchorCtr="0"/>
                    <a:p>
                      <a:pPr marL="0" indent="0">
                        <a:lnSpc>
                          <a:spcPts val="1820"/>
                        </a:lnSpc>
                        <a:buNone/>
                        <a:defRPr/>
                      </a:pPr>
                      <a:r>
                        <a:rPr lang="en-US" sz="1300">
                          <a:solidFill>
                            <a:srgbClr val="f5f3ee"/>
                          </a:solidFill>
                          <a:latin typeface="Noto Sans KR"/>
                          <a:ea typeface="Noto Sans KR"/>
                          <a:cs typeface="Noto Sans KR"/>
                        </a:rPr>
                        <a:t>목표물 발견</a:t>
                      </a:r>
                      <a:endParaRPr lang="en-US" sz="1300">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tcPr>
                </a:tc>
                <a:tc>
                  <a:txBody>
                    <a:bodyPr vert="horz" lIns="101600" tIns="88900" rIns="101600" bIns="88900" anchor="t" anchorCtr="0"/>
                    <a:p>
                      <a:pPr marL="0" indent="0">
                        <a:lnSpc>
                          <a:spcPts val="1820"/>
                        </a:lnSpc>
                        <a:buNone/>
                        <a:defRPr/>
                      </a:pPr>
                      <a:r>
                        <a:rPr lang="en-US" sz="1300">
                          <a:solidFill>
                            <a:srgbClr val="f5f3ee"/>
                          </a:solidFill>
                          <a:latin typeface="Noto Sans KR"/>
                          <a:ea typeface="Noto Sans KR"/>
                          <a:cs typeface="Noto Sans KR"/>
                        </a:rPr>
                        <a:t>결과 판단 후 다음 작업</a:t>
                      </a:r>
                      <a:endParaRPr lang="en-US" sz="1300">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tcPr>
                </a:tc>
              </a:tr>
              <a:tr h="495689">
                <a:tc>
                  <a:txBody>
                    <a:bodyPr vert="horz" lIns="101600" tIns="88900" rIns="101600" bIns="88900" anchor="t" anchorCtr="0"/>
                    <a:p>
                      <a:pPr marL="0" indent="0">
                        <a:lnSpc>
                          <a:spcPts val="1820"/>
                        </a:lnSpc>
                        <a:buNone/>
                        <a:defRPr/>
                      </a:pPr>
                      <a:r>
                        <a:rPr lang="en-US" sz="1300">
                          <a:solidFill>
                            <a:srgbClr val="f0a37a"/>
                          </a:solidFill>
                          <a:latin typeface="Noto Sans KR"/>
                          <a:ea typeface="Noto Sans KR"/>
                          <a:cs typeface="Noto Sans KR"/>
                        </a:rPr>
                        <a:t>TARGET_NOT_FOUND</a:t>
                      </a:r>
                      <a:endParaRPr lang="en-US" sz="1300">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tcPr>
                </a:tc>
                <a:tc>
                  <a:txBody>
                    <a:bodyPr vert="horz" lIns="101600" tIns="88900" rIns="101600" bIns="88900" anchor="t" anchorCtr="0"/>
                    <a:p>
                      <a:pPr marL="0" indent="0">
                        <a:lnSpc>
                          <a:spcPts val="1820"/>
                        </a:lnSpc>
                        <a:buNone/>
                        <a:defRPr/>
                      </a:pPr>
                      <a:r>
                        <a:rPr lang="en-US" sz="1300">
                          <a:solidFill>
                            <a:srgbClr val="f5f3ee"/>
                          </a:solidFill>
                          <a:latin typeface="Noto Sans KR"/>
                          <a:ea typeface="Noto Sans KR"/>
                          <a:cs typeface="Noto Sans KR"/>
                        </a:rPr>
                        <a:t>목표물 없음</a:t>
                      </a:r>
                      <a:endParaRPr lang="en-US" sz="1300">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tcPr>
                </a:tc>
                <a:tc>
                  <a:txBody>
                    <a:bodyPr vert="horz" lIns="101600" tIns="88900" rIns="101600" bIns="88900" anchor="t" anchorCtr="0"/>
                    <a:p>
                      <a:pPr marL="0" indent="0">
                        <a:lnSpc>
                          <a:spcPts val="1820"/>
                        </a:lnSpc>
                        <a:buNone/>
                        <a:defRPr/>
                      </a:pPr>
                      <a:r>
                        <a:rPr lang="en-US" sz="1300">
                          <a:solidFill>
                            <a:srgbClr val="f5f3ee"/>
                          </a:solidFill>
                          <a:latin typeface="Noto Sans KR"/>
                          <a:ea typeface="Noto Sans KR"/>
                          <a:cs typeface="Noto Sans KR"/>
                        </a:rPr>
                        <a:t>재탐색 </a:t>
                      </a:r>
                      <a:r>
                        <a:rPr lang="ko-KR" altLang="en-US" sz="1300">
                          <a:solidFill>
                            <a:srgbClr val="f5f3ee"/>
                          </a:solidFill>
                          <a:latin typeface="Noto Sans KR"/>
                          <a:ea typeface="Noto Sans KR"/>
                          <a:cs typeface="Noto Sans KR"/>
                        </a:rPr>
                        <a:t>또는</a:t>
                      </a:r>
                      <a:r>
                        <a:rPr lang="en-US" sz="1300">
                          <a:solidFill>
                            <a:srgbClr val="f5f3ee"/>
                          </a:solidFill>
                          <a:latin typeface="Noto Sans KR"/>
                          <a:ea typeface="Noto Sans KR"/>
                          <a:cs typeface="Noto Sans KR"/>
                        </a:rPr>
                        <a:t> </a:t>
                      </a:r>
                      <a:r>
                        <a:rPr lang="ko-KR" altLang="en-US" sz="1300">
                          <a:solidFill>
                            <a:srgbClr val="f5f3ee"/>
                          </a:solidFill>
                          <a:latin typeface="Noto Sans KR"/>
                          <a:ea typeface="Noto Sans KR"/>
                          <a:cs typeface="Noto Sans KR"/>
                        </a:rPr>
                        <a:t>사용자 확인</a:t>
                      </a:r>
                      <a:endParaRPr lang="ko-KR" altLang="en-US" sz="1300">
                        <a:solidFill>
                          <a:srgbClr val="f5f3ee"/>
                        </a:solidFill>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tcPr>
                </a:tc>
              </a:tr>
              <a:tr h="495689">
                <a:tc>
                  <a:txBody>
                    <a:bodyPr vert="horz" lIns="101600" tIns="88900" rIns="101600" bIns="88900" anchor="t" anchorCtr="0"/>
                    <a:p>
                      <a:pPr marL="0" indent="0">
                        <a:lnSpc>
                          <a:spcPts val="1820"/>
                        </a:lnSpc>
                        <a:buNone/>
                        <a:defRPr/>
                      </a:pPr>
                      <a:r>
                        <a:rPr lang="en-US" sz="1300">
                          <a:solidFill>
                            <a:srgbClr val="f0a37a"/>
                          </a:solidFill>
                          <a:latin typeface="Noto Sans KR"/>
                          <a:ea typeface="Noto Sans KR"/>
                          <a:cs typeface="Noto Sans KR"/>
                        </a:rPr>
                        <a:t>NO_PATH</a:t>
                      </a:r>
                      <a:endParaRPr lang="en-US" sz="1300">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tcPr>
                </a:tc>
                <a:tc>
                  <a:txBody>
                    <a:bodyPr vert="horz" lIns="101600" tIns="88900" rIns="101600" bIns="88900" anchor="t" anchorCtr="0"/>
                    <a:p>
                      <a:pPr marL="0" indent="0">
                        <a:lnSpc>
                          <a:spcPts val="1820"/>
                        </a:lnSpc>
                        <a:buNone/>
                        <a:defRPr/>
                      </a:pPr>
                      <a:r>
                        <a:rPr lang="en-US" sz="1300">
                          <a:solidFill>
                            <a:srgbClr val="f5f3ee"/>
                          </a:solidFill>
                          <a:latin typeface="Noto Sans KR"/>
                          <a:ea typeface="Noto Sans KR"/>
                          <a:cs typeface="Noto Sans KR"/>
                        </a:rPr>
                        <a:t>경로 막힘</a:t>
                      </a:r>
                      <a:endParaRPr lang="en-US" sz="1300">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tcPr>
                </a:tc>
                <a:tc>
                  <a:txBody>
                    <a:bodyPr vert="horz" lIns="101600" tIns="88900" rIns="101600" bIns="88900" anchor="t" anchorCtr="0"/>
                    <a:p>
                      <a:pPr marL="0" indent="0">
                        <a:lnSpc>
                          <a:spcPts val="1820"/>
                        </a:lnSpc>
                        <a:buNone/>
                        <a:defRPr/>
                      </a:pPr>
                      <a:r>
                        <a:rPr lang="en-US" sz="1300">
                          <a:solidFill>
                            <a:srgbClr val="f5f3ee"/>
                          </a:solidFill>
                          <a:latin typeface="Noto Sans KR"/>
                          <a:ea typeface="Noto Sans KR"/>
                          <a:cs typeface="Noto Sans KR"/>
                        </a:rPr>
                        <a:t>재시도 </a:t>
                      </a:r>
                      <a:r>
                        <a:rPr lang="ko-KR" altLang="en-US" sz="1300">
                          <a:solidFill>
                            <a:srgbClr val="f5f3ee"/>
                          </a:solidFill>
                          <a:latin typeface="Noto Sans KR"/>
                          <a:ea typeface="Noto Sans KR"/>
                          <a:cs typeface="Noto Sans KR"/>
                        </a:rPr>
                        <a:t> 또는 </a:t>
                      </a:r>
                      <a:r>
                        <a:rPr lang="en-US" sz="1300">
                          <a:solidFill>
                            <a:srgbClr val="f5f3ee"/>
                          </a:solidFill>
                          <a:latin typeface="Noto Sans KR"/>
                          <a:ea typeface="Noto Sans KR"/>
                          <a:cs typeface="Noto Sans KR"/>
                        </a:rPr>
                        <a:t>사용자 확인</a:t>
                      </a:r>
                      <a:endParaRPr lang="en-US" sz="1300">
                        <a:solidFill>
                          <a:srgbClr val="f5f3ee"/>
                        </a:solidFill>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tcPr>
                </a:tc>
              </a:tr>
              <a:tr h="495689">
                <a:tc>
                  <a:txBody>
                    <a:bodyPr vert="horz" lIns="101600" tIns="88900" rIns="101600" bIns="88900" anchor="t" anchorCtr="0"/>
                    <a:p>
                      <a:pPr marL="0" indent="0">
                        <a:lnSpc>
                          <a:spcPts val="1820"/>
                        </a:lnSpc>
                        <a:buNone/>
                        <a:defRPr/>
                      </a:pPr>
                      <a:r>
                        <a:rPr lang="en-US" sz="1300">
                          <a:solidFill>
                            <a:srgbClr val="f0a37a"/>
                          </a:solidFill>
                          <a:latin typeface="Noto Sans KR"/>
                          <a:ea typeface="Noto Sans KR"/>
                          <a:cs typeface="Noto Sans KR"/>
                        </a:rPr>
                        <a:t>TIMEOUT</a:t>
                      </a:r>
                      <a:endParaRPr lang="en-US" sz="1300">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tcPr>
                </a:tc>
                <a:tc>
                  <a:txBody>
                    <a:bodyPr vert="horz" lIns="101600" tIns="88900" rIns="101600" bIns="88900" anchor="t" anchorCtr="0"/>
                    <a:p>
                      <a:pPr marL="0" indent="0">
                        <a:lnSpc>
                          <a:spcPts val="1820"/>
                        </a:lnSpc>
                        <a:buNone/>
                        <a:defRPr/>
                      </a:pPr>
                      <a:r>
                        <a:rPr lang="en-US" sz="1300">
                          <a:solidFill>
                            <a:srgbClr val="f5f3ee"/>
                          </a:solidFill>
                          <a:latin typeface="Noto Sans KR"/>
                          <a:ea typeface="Noto Sans KR"/>
                          <a:cs typeface="Noto Sans KR"/>
                        </a:rPr>
                        <a:t>시간 초과</a:t>
                      </a:r>
                      <a:endParaRPr lang="en-US" sz="1300">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tcPr>
                </a:tc>
                <a:tc>
                  <a:txBody>
                    <a:bodyPr vert="horz" lIns="101600" tIns="88900" rIns="101600" bIns="88900" anchor="t" anchorCtr="0"/>
                    <a:p>
                      <a:pPr marL="0" indent="0">
                        <a:lnSpc>
                          <a:spcPts val="1820"/>
                        </a:lnSpc>
                        <a:buNone/>
                        <a:defRPr/>
                      </a:pPr>
                      <a:r>
                        <a:rPr lang="en-US" sz="1300">
                          <a:solidFill>
                            <a:srgbClr val="f5f3ee"/>
                          </a:solidFill>
                          <a:latin typeface="Noto Sans KR"/>
                          <a:ea typeface="Noto Sans KR"/>
                          <a:cs typeface="Noto Sans KR"/>
                        </a:rPr>
                        <a:t>재시도 </a:t>
                      </a:r>
                      <a:r>
                        <a:rPr lang="ko-KR" altLang="en-US" sz="1300">
                          <a:solidFill>
                            <a:srgbClr val="f5f3ee"/>
                          </a:solidFill>
                          <a:latin typeface="Noto Sans KR"/>
                          <a:ea typeface="Noto Sans KR"/>
                          <a:cs typeface="Noto Sans KR"/>
                        </a:rPr>
                        <a:t>또는 사용자 확인</a:t>
                      </a:r>
                      <a:endParaRPr lang="ko-KR" altLang="en-US" sz="1300">
                        <a:solidFill>
                          <a:srgbClr val="f5f3ee"/>
                        </a:solidFill>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tcPr>
                </a:tc>
              </a:tr>
              <a:tr h="495689">
                <a:tc>
                  <a:txBody>
                    <a:bodyPr vert="horz" lIns="101600" tIns="88900" rIns="101600" bIns="88900" anchor="t" anchorCtr="0"/>
                    <a:p>
                      <a:pPr marL="0" indent="0">
                        <a:lnSpc>
                          <a:spcPts val="1820"/>
                        </a:lnSpc>
                        <a:buNone/>
                        <a:defRPr/>
                      </a:pPr>
                      <a:r>
                        <a:rPr lang="en-US" sz="1300">
                          <a:solidFill>
                            <a:srgbClr val="ff8a80"/>
                          </a:solidFill>
                          <a:latin typeface="Noto Sans KR"/>
                          <a:ea typeface="Noto Sans KR"/>
                          <a:cs typeface="Noto Sans KR"/>
                        </a:rPr>
                        <a:t>ERROR</a:t>
                      </a:r>
                      <a:endParaRPr lang="en-US" sz="1300">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tcPr>
                </a:tc>
                <a:tc>
                  <a:txBody>
                    <a:bodyPr vert="horz" lIns="101600" tIns="88900" rIns="101600" bIns="88900" anchor="t" anchorCtr="0"/>
                    <a:p>
                      <a:pPr marL="0" indent="0">
                        <a:lnSpc>
                          <a:spcPts val="1820"/>
                        </a:lnSpc>
                        <a:buNone/>
                        <a:defRPr/>
                      </a:pPr>
                      <a:r>
                        <a:rPr lang="en-US" sz="1300">
                          <a:solidFill>
                            <a:srgbClr val="f5f3ee"/>
                          </a:solidFill>
                          <a:latin typeface="Noto Sans KR"/>
                          <a:ea typeface="Noto Sans KR"/>
                          <a:cs typeface="Noto Sans KR"/>
                        </a:rPr>
                        <a:t>오류 발생</a:t>
                      </a:r>
                      <a:endParaRPr lang="en-US" sz="1300">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tcPr>
                </a:tc>
                <a:tc>
                  <a:txBody>
                    <a:bodyPr vert="horz" lIns="101600" tIns="88900" rIns="101600" bIns="88900" anchor="t" anchorCtr="0"/>
                    <a:p>
                      <a:pPr marL="0" indent="0">
                        <a:lnSpc>
                          <a:spcPts val="1820"/>
                        </a:lnSpc>
                        <a:buNone/>
                        <a:defRPr/>
                      </a:pPr>
                      <a:r>
                        <a:rPr lang="en-US" sz="1300">
                          <a:solidFill>
                            <a:srgbClr val="f5f3ee"/>
                          </a:solidFill>
                          <a:latin typeface="Noto Sans KR"/>
                          <a:ea typeface="Noto Sans KR"/>
                          <a:cs typeface="Noto Sans KR"/>
                        </a:rPr>
                        <a:t>즉시 안전정지</a:t>
                      </a:r>
                      <a:endParaRPr lang="en-US" sz="1300">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tcPr>
                </a:tc>
              </a:tr>
            </a:tbl>
          </a:graphicData>
        </a:graphic>
      </p:graphicFrame>
      <p:sp>
        <p:nvSpPr>
          <p:cNvPr id="5" name="Text 2"/>
          <p:cNvSpPr/>
          <p:nvPr/>
        </p:nvSpPr>
        <p:spPr>
          <a:xfrm>
            <a:off x="8001000" y="1767830"/>
            <a:ext cx="3270250" cy="269230"/>
          </a:xfrm>
          <a:prstGeom prst="rect">
            <a:avLst/>
          </a:prstGeom>
          <a:noFill/>
          <a:ln/>
        </p:spPr>
        <p:txBody>
          <a:bodyPr wrap="square" lIns="0" tIns="0" rIns="0" bIns="0" anchor="t">
            <a:normAutofit/>
          </a:bodyPr>
          <a:lstStyle/>
          <a:p>
            <a:pPr marL="0" indent="0" algn="l">
              <a:lnSpc>
                <a:spcPts val="1920"/>
              </a:lnSpc>
              <a:buNone/>
              <a:defRPr/>
            </a:pPr>
            <a:endParaRPr lang="en-US" sz="1600"/>
          </a:p>
        </p:txBody>
      </p:sp>
      <p:sp>
        <p:nvSpPr>
          <p:cNvPr id="8" name="Text 5"/>
          <p:cNvSpPr/>
          <p:nvPr/>
        </p:nvSpPr>
        <p:spPr>
          <a:xfrm>
            <a:off x="8013700" y="2907010"/>
            <a:ext cx="3244088" cy="269230"/>
          </a:xfrm>
          <a:prstGeom prst="rect">
            <a:avLst/>
          </a:prstGeom>
          <a:noFill/>
          <a:ln/>
        </p:spPr>
        <p:txBody>
          <a:bodyPr wrap="square" lIns="0" tIns="0" rIns="0" bIns="0" anchor="t">
            <a:normAutofit/>
          </a:bodyPr>
          <a:lstStyle/>
          <a:p>
            <a:pPr marL="0" indent="0" algn="l">
              <a:lnSpc>
                <a:spcPts val="1920"/>
              </a:lnSpc>
              <a:buNone/>
              <a:defRPr/>
            </a:pPr>
            <a:endParaRPr lang="en-US" sz="1600"/>
          </a:p>
        </p:txBody>
      </p:sp>
      <p:sp>
        <p:nvSpPr>
          <p:cNvPr id="9" name="Text 6"/>
          <p:cNvSpPr/>
          <p:nvPr/>
        </p:nvSpPr>
        <p:spPr>
          <a:xfrm>
            <a:off x="8013700" y="3227040"/>
            <a:ext cx="3244088" cy="273050"/>
          </a:xfrm>
          <a:prstGeom prst="rect">
            <a:avLst/>
          </a:prstGeom>
          <a:noFill/>
          <a:ln/>
        </p:spPr>
        <p:txBody>
          <a:bodyPr wrap="square" lIns="0" tIns="0" rIns="0" bIns="0" anchor="t">
            <a:normAutofit/>
          </a:bodyPr>
          <a:lstStyle/>
          <a:p>
            <a:pPr marL="0" indent="0" algn="l">
              <a:lnSpc>
                <a:spcPts val="1950"/>
              </a:lnSpc>
              <a:buNone/>
              <a:defRPr/>
            </a:pPr>
            <a:endParaRPr lang="en-US" sz="1300"/>
          </a:p>
        </p:txBody>
      </p:sp>
      <p:sp>
        <p:nvSpPr>
          <p:cNvPr id="10" name="Text 7"/>
          <p:cNvSpPr/>
          <p:nvPr/>
        </p:nvSpPr>
        <p:spPr>
          <a:xfrm>
            <a:off x="7797800" y="3842990"/>
            <a:ext cx="3688842" cy="311150"/>
          </a:xfrm>
          <a:prstGeom prst="rect">
            <a:avLst/>
          </a:prstGeom>
          <a:noFill/>
          <a:ln/>
        </p:spPr>
        <p:txBody>
          <a:bodyPr wrap="square" lIns="0" tIns="0" rIns="0" bIns="0" anchor="t">
            <a:normAutofit/>
          </a:bodyPr>
          <a:lstStyle/>
          <a:p>
            <a:pPr marL="0" indent="0" algn="l">
              <a:lnSpc>
                <a:spcPts val="2250"/>
              </a:lnSpc>
              <a:buNone/>
              <a:defRPr/>
            </a:pPr>
            <a:endParaRPr lang="en-US" sz="1500"/>
          </a:p>
        </p:txBody>
      </p:sp>
      <p:sp>
        <p:nvSpPr>
          <p:cNvPr id="11" name="Text 8"/>
          <p:cNvSpPr/>
          <p:nvPr/>
        </p:nvSpPr>
        <p:spPr>
          <a:xfrm>
            <a:off x="654303" y="5871583"/>
            <a:ext cx="10883392" cy="327620"/>
          </a:xfrm>
          <a:prstGeom prst="rect">
            <a:avLst/>
          </a:prstGeom>
          <a:noFill/>
          <a:ln/>
        </p:spPr>
        <p:txBody>
          <a:bodyPr wrap="square" lIns="0" tIns="0" rIns="0" bIns="0" anchor="t">
            <a:normAutofit/>
          </a:bodyPr>
          <a:lstStyle/>
          <a:p>
            <a:pPr marL="0" indent="0" algn="l">
              <a:lnSpc>
                <a:spcPts val="2380"/>
              </a:lnSpc>
              <a:buNone/>
              <a:defRPr/>
            </a:pPr>
            <a:r>
              <a:rPr lang="ko-KR" altLang="en-US" sz="1700" b="1">
                <a:solidFill>
                  <a:srgbClr val="7fa8ff"/>
                </a:solidFill>
                <a:latin typeface="Noto Sans KR"/>
                <a:ea typeface="Noto Sans KR"/>
                <a:cs typeface="Noto Sans KR"/>
              </a:rPr>
              <a:t>문제 해결 가능성이 높은 행동 제안</a:t>
            </a:r>
            <a:r>
              <a:rPr lang="en-US" sz="1700" b="1">
                <a:solidFill>
                  <a:srgbClr val="7fa8ff"/>
                </a:solidFill>
                <a:latin typeface="Noto Sans KR"/>
                <a:ea typeface="Noto Sans KR"/>
                <a:cs typeface="Noto Sans KR"/>
              </a:rPr>
              <a:t> </a:t>
            </a:r>
            <a:r>
              <a:rPr lang="en-US" sz="1700">
                <a:solidFill>
                  <a:srgbClr val="a9b4c2"/>
                </a:solidFill>
                <a:latin typeface="Noto Sans KR"/>
                <a:ea typeface="Noto Sans KR"/>
                <a:cs typeface="Noto Sans KR"/>
              </a:rPr>
              <a:t> </a:t>
            </a:r>
            <a:r>
              <a:rPr lang="ko-KR" altLang="en-US" sz="1700">
                <a:solidFill>
                  <a:srgbClr val="a9b4c2"/>
                </a:solidFill>
                <a:latin typeface="Noto Sans KR"/>
                <a:ea typeface="Noto Sans KR"/>
                <a:cs typeface="Noto Sans KR"/>
              </a:rPr>
              <a:t> 다른 경로</a:t>
            </a:r>
            <a:r>
              <a:rPr lang="en-US" sz="1700">
                <a:solidFill>
                  <a:srgbClr val="a9b4c2"/>
                </a:solidFill>
                <a:latin typeface="Noto Sans KR"/>
                <a:ea typeface="Noto Sans KR"/>
                <a:cs typeface="Noto Sans KR"/>
              </a:rPr>
              <a:t> </a:t>
            </a:r>
            <a:r>
              <a:rPr lang="en-US" sz="1700">
                <a:solidFill>
                  <a:srgbClr val="f5f3ee"/>
                </a:solidFill>
                <a:latin typeface="Noto Sans KR"/>
                <a:ea typeface="Noto Sans KR"/>
                <a:cs typeface="Noto Sans KR"/>
              </a:rPr>
              <a:t>이동 · </a:t>
            </a:r>
            <a:r>
              <a:rPr lang="ko-KR" altLang="en-US" sz="1700">
                <a:solidFill>
                  <a:srgbClr val="f5f3ee"/>
                </a:solidFill>
                <a:latin typeface="Noto Sans KR"/>
                <a:ea typeface="Noto Sans KR"/>
                <a:cs typeface="Noto Sans KR"/>
              </a:rPr>
              <a:t>특정 각도 </a:t>
            </a:r>
            <a:r>
              <a:rPr lang="en-US" sz="1700">
                <a:solidFill>
                  <a:srgbClr val="f5f3ee"/>
                </a:solidFill>
                <a:latin typeface="Noto Sans KR"/>
                <a:ea typeface="Noto Sans KR"/>
                <a:cs typeface="Noto Sans KR"/>
              </a:rPr>
              <a:t>관찰 · 재시도 · 복귀 · 정지</a:t>
            </a:r>
            <a:endParaRPr lang="en-US" sz="1700">
              <a:solidFill>
                <a:srgbClr val="f5f3ee"/>
              </a:solidFill>
              <a:latin typeface="Noto Sans KR"/>
              <a:ea typeface="Noto Sans KR"/>
              <a:cs typeface="Noto Sans KR"/>
            </a:endParaRPr>
          </a:p>
        </p:txBody>
      </p:sp>
      <p:sp>
        <p:nvSpPr>
          <p:cNvPr id="12" name="Text 8"/>
          <p:cNvSpPr/>
          <p:nvPr/>
        </p:nvSpPr>
        <p:spPr>
          <a:xfrm>
            <a:off x="654303" y="5363065"/>
            <a:ext cx="10883392" cy="327620"/>
          </a:xfrm>
          <a:prstGeom prst="rect">
            <a:avLst/>
          </a:prstGeom>
          <a:noFill/>
          <a:ln/>
        </p:spPr>
        <p:txBody>
          <a:bodyPr wrap="square" lIns="0" tIns="0" rIns="0" bIns="0" anchor="t">
            <a:normAutofit lnSpcReduction="10000"/>
          </a:bodyPr>
          <a:lstStyle/>
          <a:p>
            <a:pPr marL="0" indent="0" algn="l">
              <a:lnSpc>
                <a:spcPts val="2380"/>
              </a:lnSpc>
              <a:buNone/>
              <a:defRPr/>
            </a:pPr>
            <a:r>
              <a:rPr lang="en-US" sz="1700" b="1">
                <a:solidFill>
                  <a:srgbClr val="7fa8ff"/>
                </a:solidFill>
                <a:latin typeface="Noto Sans KR"/>
                <a:ea typeface="Noto Sans KR"/>
                <a:cs typeface="Noto Sans KR"/>
              </a:rPr>
              <a:t> </a:t>
            </a:r>
            <a:r>
              <a:rPr lang="ko-KR" altLang="en-US" sz="1700">
                <a:solidFill>
                  <a:srgbClr val="f5f3ee"/>
                </a:solidFill>
                <a:latin typeface="Noto Sans KR"/>
                <a:ea typeface="Noto Sans KR"/>
                <a:cs typeface="Noto Sans KR"/>
              </a:rPr>
              <a:t>누적된 상태값 기반으로 문제 이해 </a:t>
            </a:r>
            <a:r>
              <a:rPr lang="en-US" altLang="ko-KR" sz="1700">
                <a:solidFill>
                  <a:srgbClr val="f5f3ee"/>
                </a:solidFill>
                <a:latin typeface="Noto Sans KR"/>
                <a:ea typeface="Noto Sans KR"/>
                <a:cs typeface="Noto Sans KR"/>
              </a:rPr>
              <a:t>-&gt;</a:t>
            </a:r>
            <a:r>
              <a:rPr lang="ko-KR" altLang="en-US" sz="1700">
                <a:solidFill>
                  <a:srgbClr val="f5f3ee"/>
                </a:solidFill>
                <a:latin typeface="Noto Sans KR"/>
                <a:ea typeface="Noto Sans KR"/>
                <a:cs typeface="Noto Sans KR"/>
              </a:rPr>
              <a:t> 재탐색 및 재시도 또는 사용자에게 제안 및 확인</a:t>
            </a:r>
            <a:endParaRPr lang="ko-KR" altLang="en-US" sz="1700">
              <a:solidFill>
                <a:srgbClr val="f5f3ee"/>
              </a:solidFill>
              <a:latin typeface="Noto Sans KR"/>
              <a:ea typeface="Noto Sans KR"/>
              <a:cs typeface="Noto Sans KR"/>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72430"/>
          </a:xfrm>
          <a:prstGeom prst="rect">
            <a:avLst/>
          </a:prstGeom>
          <a:noFill/>
          <a:ln/>
        </p:spPr>
        <p:txBody>
          <a:bodyPr wrap="square" lIns="0" tIns="0" rIns="0" bIns="0" anchor="t">
            <a:normAutofit/>
          </a:bodyPr>
          <a:lstStyle/>
          <a:p>
            <a:pPr marL="0" indent="0" algn="l">
              <a:lnSpc>
                <a:spcPts val="3520"/>
              </a:lnSpc>
              <a:buNone/>
              <a:defRPr/>
            </a:pPr>
            <a:r>
              <a:rPr lang="en-US" sz="3200" b="1">
                <a:solidFill>
                  <a:srgbClr val="1B2430"/>
                </a:solidFill>
                <a:latin typeface="Noto Sans KR"/>
                <a:ea typeface="Noto Sans KR"/>
                <a:cs typeface="Noto Sans KR"/>
              </a:rPr>
              <a:t>역할 분담과 현재 진행 상황</a:t>
            </a:r>
            <a:endParaRPr lang="en-US" sz="3200"/>
          </a:p>
        </p:txBody>
      </p:sp>
      <p:sp>
        <p:nvSpPr>
          <p:cNvPr id="3" name="Shape 1"/>
          <p:cNvSpPr/>
          <p:nvPr/>
        </p:nvSpPr>
        <p:spPr>
          <a:xfrm>
            <a:off x="812800" y="1513830"/>
            <a:ext cx="5181600" cy="2077591"/>
          </a:xfrm>
          <a:prstGeom prst="roundRect">
            <a:avLst>
              <a:gd name="adj" fmla="val 4890"/>
            </a:avLst>
          </a:prstGeom>
          <a:solidFill>
            <a:srgbClr val="FFFDF8"/>
          </a:solidFill>
          <a:ln/>
        </p:spPr>
        <p:txBody>
          <a:bodyPr/>
          <a:lstStyle/>
          <a:p>
            <a:pPr lvl="0">
              <a:defRPr/>
            </a:pPr>
            <a:endParaRPr lang="ko-KR" altLang="en-US"/>
          </a:p>
        </p:txBody>
      </p:sp>
      <p:sp>
        <p:nvSpPr>
          <p:cNvPr id="4" name="Shape 2"/>
          <p:cNvSpPr/>
          <p:nvPr/>
        </p:nvSpPr>
        <p:spPr>
          <a:xfrm>
            <a:off x="812800" y="1539230"/>
            <a:ext cx="5181600" cy="0"/>
          </a:xfrm>
          <a:prstGeom prst="line">
            <a:avLst/>
          </a:prstGeom>
          <a:noFill/>
          <a:ln w="50800">
            <a:solidFill>
              <a:srgbClr val="2F7D6D"/>
            </a:solidFill>
            <a:prstDash val="solid"/>
          </a:ln>
        </p:spPr>
        <p:txBody>
          <a:bodyPr wrap="square"/>
          <a:lstStyle/>
          <a:p>
            <a:pPr lvl="0">
              <a:defRPr/>
            </a:pPr>
            <a:endParaRPr lang="ko-KR" altLang="en-US"/>
          </a:p>
        </p:txBody>
      </p:sp>
      <p:sp>
        <p:nvSpPr>
          <p:cNvPr id="5" name="Text 3"/>
          <p:cNvSpPr/>
          <p:nvPr/>
        </p:nvSpPr>
        <p:spPr>
          <a:xfrm>
            <a:off x="1041400" y="1793230"/>
            <a:ext cx="4866132" cy="269230"/>
          </a:xfrm>
          <a:prstGeom prst="rect">
            <a:avLst/>
          </a:prstGeom>
          <a:noFill/>
          <a:ln/>
        </p:spPr>
        <p:txBody>
          <a:bodyPr wrap="square" lIns="0" tIns="0" rIns="0" bIns="0" anchor="t">
            <a:normAutofit/>
          </a:bodyPr>
          <a:lstStyle/>
          <a:p>
            <a:pPr marL="0" indent="0" algn="l">
              <a:lnSpc>
                <a:spcPts val="1920"/>
              </a:lnSpc>
              <a:buNone/>
              <a:defRPr/>
            </a:pPr>
            <a:r>
              <a:rPr lang="en-US" sz="1600" b="1">
                <a:solidFill>
                  <a:srgbClr val="1B2430"/>
                </a:solidFill>
                <a:latin typeface="Noto Sans KR"/>
                <a:ea typeface="Noto Sans KR"/>
                <a:cs typeface="Noto Sans KR"/>
              </a:rPr>
              <a:t>황다령 · 로봇 실행부</a:t>
            </a:r>
            <a:endParaRPr lang="en-US" sz="1600"/>
          </a:p>
        </p:txBody>
      </p:sp>
      <p:sp>
        <p:nvSpPr>
          <p:cNvPr id="6" name="Text 4"/>
          <p:cNvSpPr/>
          <p:nvPr/>
        </p:nvSpPr>
        <p:spPr>
          <a:xfrm>
            <a:off x="1041400" y="2113260"/>
            <a:ext cx="4866132" cy="932061"/>
          </a:xfrm>
          <a:prstGeom prst="rect">
            <a:avLst/>
          </a:prstGeom>
          <a:noFill/>
          <a:ln/>
        </p:spPr>
        <p:txBody>
          <a:bodyPr wrap="square" lIns="0" tIns="0" rIns="0" bIns="0" anchor="t">
            <a:normAutofit/>
          </a:bodyPr>
          <a:lstStyle/>
          <a:p>
            <a:pPr marL="342900" indent="-342900" algn="l">
              <a:lnSpc>
                <a:spcPts val="2380"/>
              </a:lnSpc>
              <a:buSzPct val="100000"/>
              <a:buChar char="•"/>
              <a:defRPr/>
            </a:pPr>
            <a:r>
              <a:rPr lang="en-US" sz="1400" dirty="0">
                <a:latin typeface="Noto Sans KR"/>
                <a:ea typeface="Noto Sans KR"/>
                <a:cs typeface="Noto Sans KR"/>
              </a:rPr>
              <a:t>Go2 </a:t>
            </a:r>
            <a:r>
              <a:rPr lang="en-US" sz="1400" dirty="0" err="1">
                <a:latin typeface="Noto Sans KR"/>
                <a:ea typeface="Noto Sans KR"/>
                <a:cs typeface="Noto Sans KR"/>
              </a:rPr>
              <a:t>연결</a:t>
            </a:r>
            <a:r>
              <a:rPr lang="en-US" sz="1400" dirty="0">
                <a:latin typeface="Noto Sans KR"/>
                <a:ea typeface="Noto Sans KR"/>
                <a:cs typeface="Noto Sans KR"/>
              </a:rPr>
              <a:t> </a:t>
            </a:r>
            <a:r>
              <a:rPr lang="en-US" sz="1400" dirty="0" err="1">
                <a:latin typeface="Noto Sans KR"/>
                <a:ea typeface="Noto Sans KR"/>
                <a:cs typeface="Noto Sans KR"/>
              </a:rPr>
              <a:t>및</a:t>
            </a:r>
            <a:r>
              <a:rPr lang="en-US" sz="1400" dirty="0">
                <a:latin typeface="Noto Sans KR"/>
                <a:ea typeface="Noto Sans KR"/>
                <a:cs typeface="Noto Sans KR"/>
              </a:rPr>
              <a:t> </a:t>
            </a:r>
            <a:r>
              <a:rPr lang="en-US" sz="1400" dirty="0" err="1">
                <a:latin typeface="Noto Sans KR"/>
                <a:ea typeface="Noto Sans KR"/>
                <a:cs typeface="Noto Sans KR"/>
              </a:rPr>
              <a:t>이동</a:t>
            </a:r>
            <a:r>
              <a:rPr lang="en-US" sz="1400" dirty="0">
                <a:latin typeface="Noto Sans KR"/>
                <a:ea typeface="Noto Sans KR"/>
                <a:cs typeface="Noto Sans KR"/>
              </a:rPr>
              <a:t> </a:t>
            </a:r>
            <a:r>
              <a:rPr lang="en-US" sz="1400" dirty="0" err="1">
                <a:latin typeface="Noto Sans KR"/>
                <a:ea typeface="Noto Sans KR"/>
                <a:cs typeface="Noto Sans KR"/>
              </a:rPr>
              <a:t>제어</a:t>
            </a:r>
            <a:endParaRPr lang="en-US" sz="1400" dirty="0">
              <a:latin typeface="Noto Sans KR"/>
              <a:ea typeface="Noto Sans KR"/>
              <a:cs typeface="Noto Sans KR"/>
            </a:endParaRPr>
          </a:p>
          <a:p>
            <a:pPr marL="342900" indent="-342900" algn="l">
              <a:lnSpc>
                <a:spcPts val="2380"/>
              </a:lnSpc>
              <a:buSzPct val="100000"/>
              <a:buChar char="•"/>
              <a:defRPr/>
            </a:pPr>
            <a:r>
              <a:rPr lang="en-US" sz="1400" dirty="0">
                <a:latin typeface="Noto Sans KR"/>
                <a:ea typeface="Noto Sans KR"/>
                <a:cs typeface="Noto Sans KR"/>
              </a:rPr>
              <a:t>Navigation </a:t>
            </a:r>
            <a:r>
              <a:rPr lang="en-US" sz="1400" dirty="0" err="1">
                <a:latin typeface="Noto Sans KR"/>
                <a:ea typeface="Noto Sans KR"/>
                <a:cs typeface="Noto Sans KR"/>
              </a:rPr>
              <a:t>상태</a:t>
            </a:r>
            <a:r>
              <a:rPr lang="en-US" sz="1400" dirty="0">
                <a:latin typeface="Noto Sans KR"/>
                <a:ea typeface="Noto Sans KR"/>
                <a:cs typeface="Noto Sans KR"/>
              </a:rPr>
              <a:t> </a:t>
            </a:r>
            <a:r>
              <a:rPr lang="en-US" sz="1400" dirty="0" err="1">
                <a:latin typeface="Noto Sans KR"/>
                <a:ea typeface="Noto Sans KR"/>
                <a:cs typeface="Noto Sans KR"/>
              </a:rPr>
              <a:t>수신</a:t>
            </a:r>
            <a:endParaRPr lang="en-US" sz="1400" dirty="0">
              <a:latin typeface="Noto Sans KR"/>
              <a:ea typeface="Noto Sans KR"/>
              <a:cs typeface="Noto Sans KR"/>
            </a:endParaRPr>
          </a:p>
          <a:p>
            <a:pPr marL="342900" indent="-342900" algn="l">
              <a:lnSpc>
                <a:spcPts val="2380"/>
              </a:lnSpc>
              <a:buSzPct val="100000"/>
              <a:buChar char="•"/>
              <a:defRPr/>
            </a:pPr>
            <a:r>
              <a:rPr lang="en-US" sz="1400" dirty="0" err="1">
                <a:latin typeface="Noto Sans KR"/>
                <a:ea typeface="Noto Sans KR"/>
                <a:cs typeface="Noto Sans KR"/>
              </a:rPr>
              <a:t>카메라·YOLO</a:t>
            </a:r>
            <a:r>
              <a:rPr lang="en-US" sz="1400" dirty="0">
                <a:latin typeface="Noto Sans KR"/>
                <a:ea typeface="Noto Sans KR"/>
                <a:cs typeface="Noto Sans KR"/>
              </a:rPr>
              <a:t> </a:t>
            </a:r>
            <a:r>
              <a:rPr lang="en-US" sz="1400" dirty="0" err="1">
                <a:latin typeface="Noto Sans KR"/>
                <a:ea typeface="Noto Sans KR"/>
                <a:cs typeface="Noto Sans KR"/>
              </a:rPr>
              <a:t>객체</a:t>
            </a:r>
            <a:r>
              <a:rPr lang="en-US" sz="1400" dirty="0">
                <a:latin typeface="Noto Sans KR"/>
                <a:ea typeface="Noto Sans KR"/>
                <a:cs typeface="Noto Sans KR"/>
              </a:rPr>
              <a:t> </a:t>
            </a:r>
            <a:r>
              <a:rPr lang="en-US" sz="1400" dirty="0" err="1">
                <a:latin typeface="Noto Sans KR"/>
                <a:ea typeface="Noto Sans KR"/>
                <a:cs typeface="Noto Sans KR"/>
              </a:rPr>
              <a:t>인식</a:t>
            </a:r>
            <a:endParaRPr lang="en-US" sz="1400" dirty="0"/>
          </a:p>
        </p:txBody>
      </p:sp>
      <p:sp>
        <p:nvSpPr>
          <p:cNvPr id="7" name="Text 5"/>
          <p:cNvSpPr/>
          <p:nvPr/>
        </p:nvSpPr>
        <p:spPr>
          <a:xfrm>
            <a:off x="1041400" y="3096121"/>
            <a:ext cx="4866132" cy="292100"/>
          </a:xfrm>
          <a:prstGeom prst="rect">
            <a:avLst/>
          </a:prstGeom>
          <a:noFill/>
          <a:ln/>
        </p:spPr>
        <p:txBody>
          <a:bodyPr wrap="square" lIns="0" tIns="0" rIns="0" bIns="0" anchor="t">
            <a:normAutofit/>
          </a:bodyPr>
          <a:lstStyle/>
          <a:p>
            <a:pPr marL="0" indent="0" algn="l">
              <a:lnSpc>
                <a:spcPts val="2100"/>
              </a:lnSpc>
              <a:buNone/>
              <a:defRPr/>
            </a:pPr>
            <a:r>
              <a:rPr lang="en-US" sz="1400" b="1">
                <a:solidFill>
                  <a:srgbClr val="2F7D6D"/>
                </a:solidFill>
                <a:latin typeface="Noto Sans KR"/>
                <a:ea typeface="Noto Sans KR"/>
                <a:cs typeface="Noto Sans KR"/>
              </a:rPr>
              <a:t>현재: 실제 Go2 환경에서 이동·인식 기능 구현 진행</a:t>
            </a:r>
            <a:endParaRPr lang="en-US" sz="1400"/>
          </a:p>
        </p:txBody>
      </p:sp>
      <p:sp>
        <p:nvSpPr>
          <p:cNvPr id="8" name="Shape 6"/>
          <p:cNvSpPr/>
          <p:nvPr/>
        </p:nvSpPr>
        <p:spPr>
          <a:xfrm>
            <a:off x="6197600" y="1640830"/>
            <a:ext cx="5181600" cy="2077591"/>
          </a:xfrm>
          <a:prstGeom prst="roundRect">
            <a:avLst>
              <a:gd name="adj" fmla="val 4890"/>
            </a:avLst>
          </a:prstGeom>
          <a:solidFill>
            <a:srgbClr val="FFFDF8"/>
          </a:solidFill>
          <a:ln/>
        </p:spPr>
        <p:txBody>
          <a:bodyPr/>
          <a:lstStyle/>
          <a:p>
            <a:pPr lvl="0">
              <a:defRPr/>
            </a:pPr>
            <a:endParaRPr lang="ko-KR" altLang="en-US" dirty="0"/>
          </a:p>
        </p:txBody>
      </p:sp>
      <p:sp>
        <p:nvSpPr>
          <p:cNvPr id="9" name="Shape 7"/>
          <p:cNvSpPr/>
          <p:nvPr/>
        </p:nvSpPr>
        <p:spPr>
          <a:xfrm>
            <a:off x="6197600" y="1539230"/>
            <a:ext cx="5181600" cy="0"/>
          </a:xfrm>
          <a:prstGeom prst="line">
            <a:avLst/>
          </a:prstGeom>
          <a:noFill/>
          <a:ln w="50800">
            <a:solidFill>
              <a:srgbClr val="2563D9"/>
            </a:solidFill>
            <a:prstDash val="solid"/>
          </a:ln>
        </p:spPr>
        <p:txBody>
          <a:bodyPr wrap="square"/>
          <a:lstStyle/>
          <a:p>
            <a:pPr lvl="0">
              <a:defRPr/>
            </a:pPr>
            <a:endParaRPr lang="ko-KR" altLang="en-US"/>
          </a:p>
        </p:txBody>
      </p:sp>
      <p:sp>
        <p:nvSpPr>
          <p:cNvPr id="10" name="Text 8"/>
          <p:cNvSpPr/>
          <p:nvPr/>
        </p:nvSpPr>
        <p:spPr>
          <a:xfrm>
            <a:off x="6426200" y="1793230"/>
            <a:ext cx="4866132" cy="269230"/>
          </a:xfrm>
          <a:prstGeom prst="rect">
            <a:avLst/>
          </a:prstGeom>
          <a:noFill/>
          <a:ln/>
        </p:spPr>
        <p:txBody>
          <a:bodyPr wrap="square" lIns="0" tIns="0" rIns="0" bIns="0" anchor="t">
            <a:normAutofit/>
          </a:bodyPr>
          <a:lstStyle/>
          <a:p>
            <a:pPr marL="0" indent="0" algn="l">
              <a:lnSpc>
                <a:spcPts val="1920"/>
              </a:lnSpc>
              <a:buNone/>
              <a:defRPr/>
            </a:pPr>
            <a:r>
              <a:rPr lang="en-US" sz="1600" b="1">
                <a:solidFill>
                  <a:srgbClr val="1B2430"/>
                </a:solidFill>
                <a:latin typeface="Noto Sans KR"/>
                <a:ea typeface="Noto Sans KR"/>
                <a:cs typeface="Noto Sans KR"/>
              </a:rPr>
              <a:t>김희수 · 판단부</a:t>
            </a:r>
            <a:endParaRPr lang="en-US" sz="1600"/>
          </a:p>
        </p:txBody>
      </p:sp>
      <p:sp>
        <p:nvSpPr>
          <p:cNvPr id="11" name="Text 9"/>
          <p:cNvSpPr/>
          <p:nvPr/>
        </p:nvSpPr>
        <p:spPr>
          <a:xfrm>
            <a:off x="6426200" y="2113260"/>
            <a:ext cx="4866132" cy="932061"/>
          </a:xfrm>
          <a:prstGeom prst="rect">
            <a:avLst/>
          </a:prstGeom>
          <a:noFill/>
          <a:ln/>
        </p:spPr>
        <p:txBody>
          <a:bodyPr wrap="square" lIns="0" tIns="0" rIns="0" bIns="0" anchor="t">
            <a:normAutofit/>
          </a:bodyPr>
          <a:lstStyle/>
          <a:p>
            <a:pPr marL="342900" indent="-342900" algn="l">
              <a:lnSpc>
                <a:spcPts val="2380"/>
              </a:lnSpc>
              <a:buSzPct val="100000"/>
              <a:buChar char="•"/>
              <a:defRPr/>
            </a:pPr>
            <a:r>
              <a:rPr lang="en-US" sz="1400" dirty="0" err="1">
                <a:latin typeface="Noto Sans KR"/>
                <a:ea typeface="Noto Sans KR"/>
                <a:cs typeface="Noto Sans KR"/>
              </a:rPr>
              <a:t>자연어</a:t>
            </a:r>
            <a:r>
              <a:rPr lang="en-US" sz="1400" dirty="0">
                <a:latin typeface="Noto Sans KR"/>
                <a:ea typeface="Noto Sans KR"/>
                <a:cs typeface="Noto Sans KR"/>
              </a:rPr>
              <a:t> </a:t>
            </a:r>
            <a:r>
              <a:rPr lang="en-US" sz="1400" dirty="0" err="1">
                <a:latin typeface="Noto Sans KR"/>
                <a:ea typeface="Noto Sans KR"/>
                <a:cs typeface="Noto Sans KR"/>
              </a:rPr>
              <a:t>명령</a:t>
            </a:r>
            <a:r>
              <a:rPr lang="en-US" sz="1400" dirty="0">
                <a:latin typeface="Noto Sans KR"/>
                <a:ea typeface="Noto Sans KR"/>
                <a:cs typeface="Noto Sans KR"/>
              </a:rPr>
              <a:t> </a:t>
            </a:r>
            <a:r>
              <a:rPr lang="en-US" sz="1400" dirty="0" err="1">
                <a:latin typeface="Noto Sans KR"/>
                <a:ea typeface="Noto Sans KR"/>
                <a:cs typeface="Noto Sans KR"/>
              </a:rPr>
              <a:t>작업</a:t>
            </a:r>
            <a:r>
              <a:rPr lang="en-US" sz="1400" dirty="0">
                <a:latin typeface="Noto Sans KR"/>
                <a:ea typeface="Noto Sans KR"/>
                <a:cs typeface="Noto Sans KR"/>
              </a:rPr>
              <a:t> </a:t>
            </a:r>
            <a:r>
              <a:rPr lang="en-US" sz="1400" dirty="0" err="1">
                <a:latin typeface="Noto Sans KR"/>
                <a:ea typeface="Noto Sans KR"/>
                <a:cs typeface="Noto Sans KR"/>
              </a:rPr>
              <a:t>분해</a:t>
            </a:r>
            <a:endParaRPr lang="en-US" sz="1400" dirty="0">
              <a:latin typeface="Noto Sans KR"/>
              <a:ea typeface="Noto Sans KR"/>
              <a:cs typeface="Noto Sans KR"/>
            </a:endParaRPr>
          </a:p>
          <a:p>
            <a:pPr marL="342900" indent="-342900" algn="l">
              <a:lnSpc>
                <a:spcPts val="2380"/>
              </a:lnSpc>
              <a:buSzPct val="100000"/>
              <a:buChar char="•"/>
              <a:defRPr/>
            </a:pPr>
            <a:r>
              <a:rPr lang="en-US" sz="1400" dirty="0" err="1">
                <a:latin typeface="Noto Sans KR"/>
                <a:ea typeface="Noto Sans KR"/>
                <a:cs typeface="Noto Sans KR"/>
              </a:rPr>
              <a:t>상태별</a:t>
            </a:r>
            <a:r>
              <a:rPr lang="en-US" sz="1400" dirty="0">
                <a:latin typeface="Noto Sans KR"/>
                <a:ea typeface="Noto Sans KR"/>
                <a:cs typeface="Noto Sans KR"/>
              </a:rPr>
              <a:t> </a:t>
            </a:r>
            <a:r>
              <a:rPr lang="en-US" sz="1400" dirty="0" err="1">
                <a:latin typeface="Noto Sans KR"/>
                <a:ea typeface="Noto Sans KR"/>
                <a:cs typeface="Noto Sans KR"/>
              </a:rPr>
              <a:t>다음</a:t>
            </a:r>
            <a:r>
              <a:rPr lang="en-US" sz="1400" dirty="0">
                <a:latin typeface="Noto Sans KR"/>
                <a:ea typeface="Noto Sans KR"/>
                <a:cs typeface="Noto Sans KR"/>
              </a:rPr>
              <a:t> </a:t>
            </a:r>
            <a:r>
              <a:rPr lang="en-US" sz="1400" dirty="0" err="1">
                <a:latin typeface="Noto Sans KR"/>
                <a:ea typeface="Noto Sans KR"/>
                <a:cs typeface="Noto Sans KR"/>
              </a:rPr>
              <a:t>행동</a:t>
            </a:r>
            <a:r>
              <a:rPr lang="en-US" sz="1400" dirty="0">
                <a:latin typeface="Noto Sans KR"/>
                <a:ea typeface="Noto Sans KR"/>
                <a:cs typeface="Noto Sans KR"/>
              </a:rPr>
              <a:t> </a:t>
            </a:r>
            <a:r>
              <a:rPr lang="en-US" sz="1400" dirty="0" err="1">
                <a:latin typeface="Noto Sans KR"/>
                <a:ea typeface="Noto Sans KR"/>
                <a:cs typeface="Noto Sans KR"/>
              </a:rPr>
              <a:t>선택</a:t>
            </a:r>
            <a:r>
              <a:rPr lang="en-US" sz="1400" dirty="0">
                <a:latin typeface="Noto Sans KR"/>
                <a:ea typeface="Noto Sans KR"/>
                <a:cs typeface="Noto Sans KR"/>
              </a:rPr>
              <a:t> </a:t>
            </a:r>
            <a:r>
              <a:rPr lang="en-US" sz="1400" dirty="0" err="1">
                <a:latin typeface="Noto Sans KR"/>
                <a:ea typeface="Noto Sans KR"/>
                <a:cs typeface="Noto Sans KR"/>
              </a:rPr>
              <a:t>구조</a:t>
            </a:r>
            <a:endParaRPr lang="en-US" sz="1400" dirty="0">
              <a:latin typeface="Noto Sans KR"/>
              <a:ea typeface="Noto Sans KR"/>
              <a:cs typeface="Noto Sans KR"/>
            </a:endParaRPr>
          </a:p>
          <a:p>
            <a:pPr marL="342900" indent="-342900">
              <a:lnSpc>
                <a:spcPts val="2380"/>
              </a:lnSpc>
              <a:buSzPct val="100000"/>
              <a:buChar char="•"/>
              <a:defRPr/>
            </a:pPr>
            <a:r>
              <a:rPr lang="ko-KR" altLang="en-US" sz="1400" dirty="0"/>
              <a:t>안전 검증 → </a:t>
            </a:r>
            <a:r>
              <a:rPr lang="en-US" altLang="ko-KR" sz="1400" dirty="0"/>
              <a:t>LLM </a:t>
            </a:r>
            <a:r>
              <a:rPr lang="ko-KR" altLang="en-US" sz="1400" dirty="0"/>
              <a:t>판단 → 실패 시 대체</a:t>
            </a:r>
            <a:endParaRPr lang="en-US" sz="1400" dirty="0">
              <a:solidFill>
                <a:srgbClr val="3D4754"/>
              </a:solidFill>
              <a:latin typeface="Noto Sans KR"/>
              <a:ea typeface="Noto Sans KR"/>
              <a:cs typeface="Noto Sans KR"/>
            </a:endParaRPr>
          </a:p>
        </p:txBody>
      </p:sp>
      <p:sp>
        <p:nvSpPr>
          <p:cNvPr id="12" name="Text 10"/>
          <p:cNvSpPr/>
          <p:nvPr/>
        </p:nvSpPr>
        <p:spPr>
          <a:xfrm>
            <a:off x="6426200" y="3096121"/>
            <a:ext cx="4866132" cy="292100"/>
          </a:xfrm>
          <a:prstGeom prst="rect">
            <a:avLst/>
          </a:prstGeom>
          <a:noFill/>
          <a:ln/>
        </p:spPr>
        <p:txBody>
          <a:bodyPr wrap="square" lIns="0" tIns="0" rIns="0" bIns="0" anchor="t">
            <a:normAutofit/>
          </a:bodyPr>
          <a:lstStyle/>
          <a:p>
            <a:pPr marL="0" indent="0" algn="l">
              <a:lnSpc>
                <a:spcPts val="2100"/>
              </a:lnSpc>
              <a:buNone/>
              <a:defRPr/>
            </a:pPr>
            <a:r>
              <a:rPr lang="en-US" sz="1400" b="1" dirty="0" err="1">
                <a:solidFill>
                  <a:srgbClr val="2563D9"/>
                </a:solidFill>
                <a:latin typeface="Noto Sans KR"/>
                <a:ea typeface="Noto Sans KR"/>
                <a:cs typeface="Noto Sans KR"/>
              </a:rPr>
              <a:t>현재</a:t>
            </a:r>
            <a:r>
              <a:rPr lang="en-US" sz="1400" b="1" dirty="0">
                <a:solidFill>
                  <a:srgbClr val="2563D9"/>
                </a:solidFill>
                <a:latin typeface="Noto Sans KR"/>
                <a:ea typeface="Noto Sans KR"/>
                <a:cs typeface="Noto Sans KR"/>
              </a:rPr>
              <a:t>:</a:t>
            </a:r>
            <a:r>
              <a:rPr lang="ko-KR" altLang="en-US" sz="1400" b="1" dirty="0">
                <a:solidFill>
                  <a:srgbClr val="2563D9"/>
                </a:solidFill>
                <a:latin typeface="Noto Sans KR"/>
                <a:ea typeface="Noto Sans KR"/>
                <a:cs typeface="Noto Sans KR"/>
              </a:rPr>
              <a:t> 실제 </a:t>
            </a:r>
            <a:r>
              <a:rPr lang="en-US" altLang="ko-KR" sz="1400" b="1" dirty="0">
                <a:solidFill>
                  <a:srgbClr val="2563D9"/>
                </a:solidFill>
                <a:latin typeface="Noto Sans KR"/>
                <a:ea typeface="Noto Sans KR"/>
                <a:cs typeface="Noto Sans KR"/>
              </a:rPr>
              <a:t>API </a:t>
            </a:r>
            <a:r>
              <a:rPr lang="ko-KR" altLang="en-US" sz="1400" b="1" dirty="0">
                <a:solidFill>
                  <a:srgbClr val="2563D9"/>
                </a:solidFill>
                <a:latin typeface="Noto Sans KR"/>
                <a:ea typeface="Noto Sans KR"/>
                <a:cs typeface="Noto Sans KR"/>
              </a:rPr>
              <a:t>연동</a:t>
            </a:r>
            <a:r>
              <a:rPr lang="en-US" altLang="ko-KR" sz="1400" b="1" dirty="0">
                <a:solidFill>
                  <a:srgbClr val="2563D9"/>
                </a:solidFill>
                <a:latin typeface="Noto Sans KR"/>
                <a:ea typeface="Noto Sans KR"/>
                <a:cs typeface="Noto Sans KR"/>
              </a:rPr>
              <a:t>,</a:t>
            </a:r>
            <a:r>
              <a:rPr lang="ko-KR" altLang="en-US" sz="1400" b="1" dirty="0">
                <a:solidFill>
                  <a:srgbClr val="2563D9"/>
                </a:solidFill>
                <a:latin typeface="Noto Sans KR"/>
                <a:ea typeface="Noto Sans KR"/>
                <a:cs typeface="Noto Sans KR"/>
              </a:rPr>
              <a:t> 예외 </a:t>
            </a:r>
            <a:r>
              <a:rPr lang="en-US" altLang="ko-KR" sz="1400" b="1" dirty="0">
                <a:solidFill>
                  <a:srgbClr val="2563D9"/>
                </a:solidFill>
                <a:latin typeface="Noto Sans KR"/>
                <a:ea typeface="Noto Sans KR"/>
                <a:cs typeface="Noto Sans KR"/>
              </a:rPr>
              <a:t>8</a:t>
            </a:r>
            <a:r>
              <a:rPr lang="ko-KR" altLang="en-US" sz="1400" b="1" dirty="0">
                <a:solidFill>
                  <a:srgbClr val="2563D9"/>
                </a:solidFill>
                <a:latin typeface="Noto Sans KR"/>
                <a:ea typeface="Noto Sans KR"/>
                <a:cs typeface="Noto Sans KR"/>
              </a:rPr>
              <a:t>종 판단 검증 </a:t>
            </a:r>
            <a:r>
              <a:rPr lang="en-US" altLang="ko-KR" sz="1400" b="1" dirty="0">
                <a:solidFill>
                  <a:srgbClr val="2563D9"/>
                </a:solidFill>
                <a:latin typeface="Noto Sans KR"/>
                <a:ea typeface="Noto Sans KR"/>
                <a:cs typeface="Noto Sans KR"/>
              </a:rPr>
              <a:t>(</a:t>
            </a:r>
            <a:r>
              <a:rPr lang="ko-KR" altLang="en-US" sz="1400" b="1" dirty="0">
                <a:solidFill>
                  <a:srgbClr val="2563D9"/>
                </a:solidFill>
                <a:latin typeface="Noto Sans KR"/>
                <a:ea typeface="Noto Sans KR"/>
                <a:cs typeface="Noto Sans KR"/>
              </a:rPr>
              <a:t>로봇 연동 전</a:t>
            </a:r>
            <a:r>
              <a:rPr lang="en-US" altLang="ko-KR" sz="1400" b="1" dirty="0">
                <a:solidFill>
                  <a:srgbClr val="2563D9"/>
                </a:solidFill>
                <a:latin typeface="Noto Sans KR"/>
                <a:ea typeface="Noto Sans KR"/>
                <a:cs typeface="Noto Sans KR"/>
              </a:rPr>
              <a:t>)</a:t>
            </a:r>
            <a:endParaRPr lang="en-US" sz="1400" dirty="0"/>
          </a:p>
        </p:txBody>
      </p:sp>
      <p:sp>
        <p:nvSpPr>
          <p:cNvPr id="13" name="Shape 11"/>
          <p:cNvSpPr/>
          <p:nvPr/>
        </p:nvSpPr>
        <p:spPr>
          <a:xfrm>
            <a:off x="812800" y="3845421"/>
            <a:ext cx="10566400" cy="673100"/>
          </a:xfrm>
          <a:prstGeom prst="roundRect">
            <a:avLst>
              <a:gd name="adj" fmla="val 15094"/>
            </a:avLst>
          </a:prstGeom>
          <a:solidFill>
            <a:srgbClr val="14202E"/>
          </a:solidFill>
          <a:ln/>
        </p:spPr>
        <p:txBody>
          <a:bodyPr/>
          <a:lstStyle/>
          <a:p>
            <a:pPr lvl="0">
              <a:defRPr/>
            </a:pPr>
            <a:endParaRPr lang="ko-KR" altLang="en-US"/>
          </a:p>
        </p:txBody>
      </p:sp>
      <p:sp>
        <p:nvSpPr>
          <p:cNvPr id="14" name="Text 12"/>
          <p:cNvSpPr/>
          <p:nvPr/>
        </p:nvSpPr>
        <p:spPr>
          <a:xfrm>
            <a:off x="1066800" y="4066381"/>
            <a:ext cx="1130300" cy="256530"/>
          </a:xfrm>
          <a:prstGeom prst="rect">
            <a:avLst/>
          </a:prstGeom>
          <a:noFill/>
          <a:ln/>
        </p:spPr>
        <p:txBody>
          <a:bodyPr wrap="square" lIns="0" tIns="0" rIns="0" bIns="0" anchor="t">
            <a:normAutofit/>
          </a:bodyPr>
          <a:lstStyle/>
          <a:p>
            <a:pPr marL="0" indent="0" algn="l">
              <a:lnSpc>
                <a:spcPts val="1820"/>
              </a:lnSpc>
              <a:buNone/>
              <a:defRPr/>
            </a:pPr>
            <a:r>
              <a:rPr lang="en-US" sz="1300" b="1">
                <a:solidFill>
                  <a:srgbClr val="7FA8FF"/>
                </a:solidFill>
                <a:latin typeface="Noto Sans KR"/>
                <a:ea typeface="Noto Sans KR"/>
                <a:cs typeface="Noto Sans KR"/>
              </a:rPr>
              <a:t>현재 단계</a:t>
            </a:r>
            <a:endParaRPr lang="en-US" sz="1300"/>
          </a:p>
        </p:txBody>
      </p:sp>
      <p:sp>
        <p:nvSpPr>
          <p:cNvPr id="15" name="Text 13"/>
          <p:cNvSpPr/>
          <p:nvPr/>
        </p:nvSpPr>
        <p:spPr>
          <a:xfrm>
            <a:off x="2349500" y="4048621"/>
            <a:ext cx="6855824" cy="292100"/>
          </a:xfrm>
          <a:prstGeom prst="rect">
            <a:avLst/>
          </a:prstGeom>
          <a:noFill/>
          <a:ln/>
        </p:spPr>
        <p:txBody>
          <a:bodyPr wrap="square" lIns="0" tIns="0" rIns="0" bIns="0" anchor="t">
            <a:normAutofit/>
          </a:bodyPr>
          <a:lstStyle/>
          <a:p>
            <a:pPr marL="0" indent="0" algn="l">
              <a:lnSpc>
                <a:spcPts val="2100"/>
              </a:lnSpc>
              <a:buNone/>
              <a:defRPr/>
            </a:pPr>
            <a:r>
              <a:rPr lang="en-US" sz="1400">
                <a:solidFill>
                  <a:srgbClr val="F5F3EE"/>
                </a:solidFill>
                <a:latin typeface="Noto Sans KR"/>
                <a:ea typeface="Noto Sans KR"/>
                <a:cs typeface="Noto Sans KR"/>
              </a:rPr>
              <a:t>두 모듈을 각각 구현 중 → 다음 단계에서 Navigation 상태와 YOLO 결과를 판단 모듈에 연결</a:t>
            </a:r>
            <a:endParaRPr lang="en-US" sz="1400"/>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9ED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B2430"/>
                </a:solidFill>
                <a:latin typeface="Noto Sans KR" pitchFamily="34" charset="0"/>
                <a:ea typeface="Noto Sans KR" pitchFamily="34" charset="-122"/>
                <a:cs typeface="Noto Sans KR" pitchFamily="34" charset="-120"/>
              </a:rPr>
              <a:t>평가 방법과 향후 계획</a:t>
            </a:r>
            <a:endParaRPr lang="en-US" sz="3200" dirty="0"/>
          </a:p>
        </p:txBody>
      </p:sp>
      <p:sp>
        <p:nvSpPr>
          <p:cNvPr id="3" name="Shape 1"/>
          <p:cNvSpPr/>
          <p:nvPr/>
        </p:nvSpPr>
        <p:spPr>
          <a:xfrm>
            <a:off x="812800" y="1564630"/>
            <a:ext cx="3437434" cy="604490"/>
          </a:xfrm>
          <a:prstGeom prst="roundRect">
            <a:avLst>
              <a:gd name="adj" fmla="val 14707"/>
            </a:avLst>
          </a:prstGeom>
          <a:solidFill>
            <a:srgbClr val="FBFCFD"/>
          </a:solidFill>
          <a:ln/>
        </p:spPr>
        <p:txBody>
          <a:bodyPr/>
          <a:lstStyle/>
          <a:p>
            <a:endParaRPr lang="ko-KR" altLang="en-US"/>
          </a:p>
        </p:txBody>
      </p:sp>
      <p:sp>
        <p:nvSpPr>
          <p:cNvPr id="4" name="Text 2"/>
          <p:cNvSpPr/>
          <p:nvPr/>
        </p:nvSpPr>
        <p:spPr>
          <a:xfrm>
            <a:off x="1016000" y="1742430"/>
            <a:ext cx="3121965"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B2430"/>
                </a:solidFill>
                <a:latin typeface="Noto Sans KR" pitchFamily="34" charset="0"/>
                <a:ea typeface="Noto Sans KR" pitchFamily="34" charset="-122"/>
                <a:cs typeface="Noto Sans KR" pitchFamily="34" charset="-120"/>
              </a:rPr>
              <a:t>전체 임무 성공률</a:t>
            </a:r>
            <a:endParaRPr lang="en-US" sz="1400" dirty="0"/>
          </a:p>
        </p:txBody>
      </p:sp>
      <p:sp>
        <p:nvSpPr>
          <p:cNvPr id="5" name="Shape 3"/>
          <p:cNvSpPr/>
          <p:nvPr/>
        </p:nvSpPr>
        <p:spPr>
          <a:xfrm>
            <a:off x="4377234" y="1564630"/>
            <a:ext cx="3437483" cy="604490"/>
          </a:xfrm>
          <a:prstGeom prst="roundRect">
            <a:avLst>
              <a:gd name="adj" fmla="val 14707"/>
            </a:avLst>
          </a:prstGeom>
          <a:solidFill>
            <a:srgbClr val="FBFCFD"/>
          </a:solidFill>
          <a:ln/>
        </p:spPr>
        <p:txBody>
          <a:bodyPr/>
          <a:lstStyle/>
          <a:p>
            <a:endParaRPr lang="ko-KR" altLang="en-US"/>
          </a:p>
        </p:txBody>
      </p:sp>
      <p:sp>
        <p:nvSpPr>
          <p:cNvPr id="6" name="Text 4"/>
          <p:cNvSpPr/>
          <p:nvPr/>
        </p:nvSpPr>
        <p:spPr>
          <a:xfrm>
            <a:off x="4580434" y="1742430"/>
            <a:ext cx="3122016"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B2430"/>
                </a:solidFill>
                <a:latin typeface="Noto Sans KR" pitchFamily="34" charset="0"/>
                <a:ea typeface="Noto Sans KR" pitchFamily="34" charset="-122"/>
                <a:cs typeface="Noto Sans KR" pitchFamily="34" charset="-120"/>
              </a:rPr>
              <a:t>예외 대응 성공률</a:t>
            </a:r>
            <a:endParaRPr lang="en-US" sz="1400" dirty="0"/>
          </a:p>
        </p:txBody>
      </p:sp>
      <p:sp>
        <p:nvSpPr>
          <p:cNvPr id="7" name="Shape 5"/>
          <p:cNvSpPr/>
          <p:nvPr/>
        </p:nvSpPr>
        <p:spPr>
          <a:xfrm>
            <a:off x="8044891" y="1543806"/>
            <a:ext cx="3437434" cy="1335973"/>
          </a:xfrm>
          <a:prstGeom prst="roundRect">
            <a:avLst>
              <a:gd name="adj" fmla="val 14707"/>
            </a:avLst>
          </a:prstGeom>
          <a:solidFill>
            <a:srgbClr val="FBFCFD"/>
          </a:solidFill>
          <a:ln/>
        </p:spPr>
        <p:txBody>
          <a:bodyPr/>
          <a:lstStyle/>
          <a:p>
            <a:endParaRPr lang="ko-KR" altLang="en-US"/>
          </a:p>
        </p:txBody>
      </p:sp>
      <p:sp>
        <p:nvSpPr>
          <p:cNvPr id="8" name="Text 6"/>
          <p:cNvSpPr/>
          <p:nvPr/>
        </p:nvSpPr>
        <p:spPr>
          <a:xfrm>
            <a:off x="8257235" y="2114525"/>
            <a:ext cx="3121965"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B2430"/>
                </a:solidFill>
                <a:latin typeface="Noto Sans KR" pitchFamily="34" charset="0"/>
                <a:ea typeface="Noto Sans KR" pitchFamily="34" charset="-122"/>
                <a:cs typeface="Noto Sans KR" pitchFamily="34" charset="-120"/>
              </a:rPr>
              <a:t>임무 완료 시간</a:t>
            </a:r>
            <a:endParaRPr lang="en-US" sz="1400" dirty="0"/>
          </a:p>
        </p:txBody>
      </p:sp>
      <p:sp>
        <p:nvSpPr>
          <p:cNvPr id="9" name="Shape 7"/>
          <p:cNvSpPr/>
          <p:nvPr/>
        </p:nvSpPr>
        <p:spPr>
          <a:xfrm>
            <a:off x="812800" y="2296120"/>
            <a:ext cx="3437434" cy="604490"/>
          </a:xfrm>
          <a:prstGeom prst="roundRect">
            <a:avLst>
              <a:gd name="adj" fmla="val 14707"/>
            </a:avLst>
          </a:prstGeom>
          <a:solidFill>
            <a:srgbClr val="FBFCFD"/>
          </a:solidFill>
          <a:ln/>
        </p:spPr>
        <p:txBody>
          <a:bodyPr/>
          <a:lstStyle/>
          <a:p>
            <a:endParaRPr lang="ko-KR" altLang="en-US"/>
          </a:p>
        </p:txBody>
      </p:sp>
      <p:sp>
        <p:nvSpPr>
          <p:cNvPr id="10" name="Text 8"/>
          <p:cNvSpPr/>
          <p:nvPr/>
        </p:nvSpPr>
        <p:spPr>
          <a:xfrm>
            <a:off x="1016000" y="2473920"/>
            <a:ext cx="3121965"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B2430"/>
                </a:solidFill>
                <a:latin typeface="Noto Sans KR" pitchFamily="34" charset="0"/>
                <a:ea typeface="Noto Sans KR" pitchFamily="34" charset="-122"/>
                <a:cs typeface="Noto Sans KR" pitchFamily="34" charset="-120"/>
              </a:rPr>
              <a:t>불필요한 재시도 횟수</a:t>
            </a:r>
            <a:endParaRPr lang="en-US" sz="1400" dirty="0"/>
          </a:p>
        </p:txBody>
      </p:sp>
      <p:sp>
        <p:nvSpPr>
          <p:cNvPr id="11" name="Shape 9"/>
          <p:cNvSpPr/>
          <p:nvPr/>
        </p:nvSpPr>
        <p:spPr>
          <a:xfrm>
            <a:off x="4377234" y="2296120"/>
            <a:ext cx="3437483" cy="604490"/>
          </a:xfrm>
          <a:prstGeom prst="roundRect">
            <a:avLst>
              <a:gd name="adj" fmla="val 14707"/>
            </a:avLst>
          </a:prstGeom>
          <a:solidFill>
            <a:srgbClr val="FBFCFD"/>
          </a:solidFill>
          <a:ln/>
        </p:spPr>
        <p:txBody>
          <a:bodyPr/>
          <a:lstStyle/>
          <a:p>
            <a:endParaRPr lang="ko-KR" altLang="en-US"/>
          </a:p>
        </p:txBody>
      </p:sp>
      <p:sp>
        <p:nvSpPr>
          <p:cNvPr id="12" name="Text 10"/>
          <p:cNvSpPr/>
          <p:nvPr/>
        </p:nvSpPr>
        <p:spPr>
          <a:xfrm>
            <a:off x="4580434" y="2473920"/>
            <a:ext cx="3122016"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B2430"/>
                </a:solidFill>
                <a:latin typeface="Noto Sans KR" pitchFamily="34" charset="0"/>
                <a:ea typeface="Noto Sans KR" pitchFamily="34" charset="-122"/>
                <a:cs typeface="Noto Sans KR" pitchFamily="34" charset="-120"/>
              </a:rPr>
              <a:t>안전 복귀율</a:t>
            </a:r>
            <a:endParaRPr lang="en-US" sz="1400" dirty="0"/>
          </a:p>
        </p:txBody>
      </p:sp>
      <p:sp>
        <p:nvSpPr>
          <p:cNvPr id="15" name="Shape 13"/>
          <p:cNvSpPr/>
          <p:nvPr/>
        </p:nvSpPr>
        <p:spPr>
          <a:xfrm>
            <a:off x="812800" y="3218111"/>
            <a:ext cx="3437434" cy="0"/>
          </a:xfrm>
          <a:prstGeom prst="line">
            <a:avLst/>
          </a:prstGeom>
          <a:noFill/>
          <a:ln w="25400">
            <a:solidFill>
              <a:srgbClr val="14202E"/>
            </a:solidFill>
            <a:prstDash val="solid"/>
          </a:ln>
        </p:spPr>
        <p:txBody>
          <a:bodyPr/>
          <a:lstStyle/>
          <a:p>
            <a:endParaRPr lang="ko-KR" altLang="en-US"/>
          </a:p>
        </p:txBody>
      </p:sp>
      <p:sp>
        <p:nvSpPr>
          <p:cNvPr id="16" name="Text 14"/>
          <p:cNvSpPr/>
          <p:nvPr/>
        </p:nvSpPr>
        <p:spPr>
          <a:xfrm>
            <a:off x="812800" y="3357811"/>
            <a:ext cx="354055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2"/>
                </a:solidFill>
                <a:latin typeface="Noto Sans KR" pitchFamily="34" charset="0"/>
                <a:ea typeface="Noto Sans KR" pitchFamily="34" charset="-122"/>
                <a:cs typeface="Noto Sans KR" pitchFamily="34" charset="-120"/>
              </a:rPr>
              <a:t>1단계</a:t>
            </a:r>
            <a:endParaRPr lang="en-US" sz="1200" dirty="0"/>
          </a:p>
        </p:txBody>
      </p:sp>
      <p:sp>
        <p:nvSpPr>
          <p:cNvPr id="17" name="Text 15"/>
          <p:cNvSpPr/>
          <p:nvPr/>
        </p:nvSpPr>
        <p:spPr>
          <a:xfrm>
            <a:off x="812800" y="3634631"/>
            <a:ext cx="3540557"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430"/>
                </a:solidFill>
                <a:latin typeface="Noto Sans KR" pitchFamily="34" charset="0"/>
                <a:ea typeface="Noto Sans KR" pitchFamily="34" charset="-122"/>
                <a:cs typeface="Noto Sans KR" pitchFamily="34" charset="-120"/>
              </a:rPr>
              <a:t>실제 LLM API 연동과</a:t>
            </a:r>
            <a:endParaRPr lang="en-US" sz="1300" dirty="0"/>
          </a:p>
          <a:p>
            <a:pPr marL="0" indent="0" algn="l">
              <a:lnSpc>
                <a:spcPts val="1820"/>
              </a:lnSpc>
              <a:buNone/>
            </a:pPr>
            <a:r>
              <a:rPr lang="en-US" sz="1300" b="1" dirty="0">
                <a:solidFill>
                  <a:srgbClr val="1B2430"/>
                </a:solidFill>
                <a:latin typeface="Noto Sans KR" pitchFamily="34" charset="0"/>
                <a:ea typeface="Noto Sans KR" pitchFamily="34" charset="-122"/>
                <a:cs typeface="Noto Sans KR" pitchFamily="34" charset="-120"/>
              </a:rPr>
              <a:t>구조화 출력 검증</a:t>
            </a:r>
            <a:endParaRPr lang="en-US" sz="1300" dirty="0"/>
          </a:p>
        </p:txBody>
      </p:sp>
      <p:sp>
        <p:nvSpPr>
          <p:cNvPr id="18" name="Shape 16"/>
          <p:cNvSpPr/>
          <p:nvPr/>
        </p:nvSpPr>
        <p:spPr>
          <a:xfrm>
            <a:off x="4377234" y="3218111"/>
            <a:ext cx="3437483" cy="0"/>
          </a:xfrm>
          <a:prstGeom prst="line">
            <a:avLst/>
          </a:prstGeom>
          <a:noFill/>
          <a:ln w="25400">
            <a:solidFill>
              <a:srgbClr val="14202E"/>
            </a:solidFill>
            <a:prstDash val="solid"/>
          </a:ln>
        </p:spPr>
        <p:txBody>
          <a:bodyPr/>
          <a:lstStyle/>
          <a:p>
            <a:endParaRPr lang="ko-KR" altLang="en-US"/>
          </a:p>
        </p:txBody>
      </p:sp>
      <p:sp>
        <p:nvSpPr>
          <p:cNvPr id="19" name="Text 17"/>
          <p:cNvSpPr/>
          <p:nvPr/>
        </p:nvSpPr>
        <p:spPr>
          <a:xfrm>
            <a:off x="4377234" y="3357811"/>
            <a:ext cx="354060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2"/>
                </a:solidFill>
                <a:latin typeface="Noto Sans KR" pitchFamily="34" charset="0"/>
                <a:ea typeface="Noto Sans KR" pitchFamily="34" charset="-122"/>
                <a:cs typeface="Noto Sans KR" pitchFamily="34" charset="-120"/>
              </a:rPr>
              <a:t>2단계 </a:t>
            </a:r>
            <a:endParaRPr lang="en-US" sz="1200" dirty="0"/>
          </a:p>
        </p:txBody>
      </p:sp>
      <p:sp>
        <p:nvSpPr>
          <p:cNvPr id="20" name="Text 18"/>
          <p:cNvSpPr/>
          <p:nvPr/>
        </p:nvSpPr>
        <p:spPr>
          <a:xfrm>
            <a:off x="4377234" y="3634631"/>
            <a:ext cx="3540608"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430"/>
                </a:solidFill>
                <a:latin typeface="Noto Sans KR" pitchFamily="34" charset="0"/>
                <a:ea typeface="Noto Sans KR" pitchFamily="34" charset="-122"/>
                <a:cs typeface="Noto Sans KR" pitchFamily="34" charset="-120"/>
              </a:rPr>
              <a:t>Navigation·YOLO와</a:t>
            </a:r>
            <a:endParaRPr lang="en-US" sz="1300" dirty="0"/>
          </a:p>
          <a:p>
            <a:pPr marL="0" indent="0" algn="l">
              <a:lnSpc>
                <a:spcPts val="1820"/>
              </a:lnSpc>
              <a:buNone/>
            </a:pPr>
            <a:r>
              <a:rPr lang="en-US" sz="1300" b="1" dirty="0">
                <a:solidFill>
                  <a:srgbClr val="1B2430"/>
                </a:solidFill>
                <a:latin typeface="Noto Sans KR" pitchFamily="34" charset="0"/>
                <a:ea typeface="Noto Sans KR" pitchFamily="34" charset="-122"/>
                <a:cs typeface="Noto Sans KR" pitchFamily="34" charset="-120"/>
              </a:rPr>
              <a:t>판단 모듈 통합</a:t>
            </a:r>
            <a:endParaRPr lang="en-US" sz="1300" dirty="0"/>
          </a:p>
        </p:txBody>
      </p:sp>
      <p:sp>
        <p:nvSpPr>
          <p:cNvPr id="21" name="Shape 19"/>
          <p:cNvSpPr/>
          <p:nvPr/>
        </p:nvSpPr>
        <p:spPr>
          <a:xfrm>
            <a:off x="7941717" y="3218111"/>
            <a:ext cx="3437483" cy="0"/>
          </a:xfrm>
          <a:prstGeom prst="line">
            <a:avLst/>
          </a:prstGeom>
          <a:noFill/>
          <a:ln w="25400">
            <a:solidFill>
              <a:srgbClr val="14202E"/>
            </a:solidFill>
            <a:prstDash val="solid"/>
          </a:ln>
        </p:spPr>
        <p:txBody>
          <a:bodyPr/>
          <a:lstStyle/>
          <a:p>
            <a:endParaRPr lang="ko-KR" altLang="en-US"/>
          </a:p>
        </p:txBody>
      </p:sp>
      <p:sp>
        <p:nvSpPr>
          <p:cNvPr id="22" name="Text 20"/>
          <p:cNvSpPr/>
          <p:nvPr/>
        </p:nvSpPr>
        <p:spPr>
          <a:xfrm>
            <a:off x="7941717" y="3357811"/>
            <a:ext cx="354060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2"/>
                </a:solidFill>
                <a:latin typeface="Noto Sans KR" pitchFamily="34" charset="0"/>
                <a:ea typeface="Noto Sans KR" pitchFamily="34" charset="-122"/>
                <a:cs typeface="Noto Sans KR" pitchFamily="34" charset="-120"/>
              </a:rPr>
              <a:t>3단계 </a:t>
            </a:r>
            <a:endParaRPr lang="en-US" sz="1200" dirty="0"/>
          </a:p>
        </p:txBody>
      </p:sp>
      <p:sp>
        <p:nvSpPr>
          <p:cNvPr id="23" name="Text 21"/>
          <p:cNvSpPr/>
          <p:nvPr/>
        </p:nvSpPr>
        <p:spPr>
          <a:xfrm>
            <a:off x="7941717" y="3634631"/>
            <a:ext cx="3540608"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430"/>
                </a:solidFill>
                <a:latin typeface="Noto Sans KR" pitchFamily="34" charset="0"/>
                <a:ea typeface="Noto Sans KR" pitchFamily="34" charset="-122"/>
                <a:cs typeface="Noto Sans KR" pitchFamily="34" charset="-120"/>
              </a:rPr>
              <a:t>Go2 전체 </a:t>
            </a:r>
            <a:r>
              <a:rPr lang="en-US" sz="1300" b="1" dirty="0" err="1">
                <a:solidFill>
                  <a:srgbClr val="1B2430"/>
                </a:solidFill>
                <a:latin typeface="Noto Sans KR" pitchFamily="34" charset="0"/>
                <a:ea typeface="Noto Sans KR" pitchFamily="34" charset="-122"/>
                <a:cs typeface="Noto Sans KR" pitchFamily="34" charset="-120"/>
              </a:rPr>
              <a:t>임무</a:t>
            </a:r>
            <a:r>
              <a:rPr lang="en-US" sz="1300" b="1" dirty="0">
                <a:solidFill>
                  <a:srgbClr val="1B2430"/>
                </a:solidFill>
                <a:latin typeface="Noto Sans KR" pitchFamily="34" charset="0"/>
                <a:ea typeface="Noto Sans KR" pitchFamily="34" charset="-122"/>
                <a:cs typeface="Noto Sans KR" pitchFamily="34" charset="-120"/>
              </a:rPr>
              <a:t> </a:t>
            </a:r>
            <a:r>
              <a:rPr lang="en-US" sz="1300" b="1" dirty="0" err="1">
                <a:solidFill>
                  <a:srgbClr val="1B2430"/>
                </a:solidFill>
                <a:latin typeface="Noto Sans KR" pitchFamily="34" charset="0"/>
                <a:ea typeface="Noto Sans KR" pitchFamily="34" charset="-122"/>
                <a:cs typeface="Noto Sans KR" pitchFamily="34" charset="-120"/>
              </a:rPr>
              <a:t>실행</a:t>
            </a:r>
            <a:endParaRPr lang="en-US" sz="1300" dirty="0"/>
          </a:p>
        </p:txBody>
      </p:sp>
    </p:spTree>
  </p:cSld>
  <p:clrMapOvr>
    <a:masterClrMapping/>
  </p:clrMapOvr>
</p:sld>
</file>

<file path=ppt/theme/theme1.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a:ln>
        <a:ln w="19050" cap="flat" cmpd="sng" algn="ctr">
          <a:solidFill>
            <a:schemeClr val="phClr"/>
          </a:solidFill>
          <a:prstDash val="solid"/>
          <a:miter/>
        </a:ln>
        <a:ln w="2540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a:lstStyle/>
      <a:style>
        <a:lnRef idx="2">
          <a:schemeClr val="accent1">
            <a:shade val="20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a:lstStyle/>
    </a:txDef>
  </a:objectDefaults>
</a:theme>
</file>

<file path=docProps/app.xml><?xml version="1.0" encoding="utf-8"?>
<ep:Properties xmlns:r="http://schemas.openxmlformats.org/officeDocument/2006/relationships" xmlns:ep="http://schemas.openxmlformats.org/officeDocument/2006/extended-properties" xmlns:vt="http://schemas.openxmlformats.org/officeDocument/2006/docPropsVTypes">
  <ep:Manager/>
  <ep:Company>PptxGenJS</ep:Company>
  <ep:Words>344</ep:Words>
  <ep:PresentationFormat>와이드스크린</ep:PresentationFormat>
  <ep:Paragraphs>81</ep:Paragraphs>
  <ep:Slides>6</ep:Slides>
  <ep:Notes>6</ep:Notes>
  <ep:TotalTime>0</ep:TotalTime>
  <ep:HiddenSlides>0</ep:HiddenSlides>
  <ep:MMClips>0</ep:MMClips>
  <ep:HeadingPairs>
    <vt:vector size="4" baseType="variant">
      <vt:variant>
        <vt:lpstr>테마</vt:lpstr>
      </vt:variant>
      <vt:variant>
        <vt:i4>1</vt:i4>
      </vt:variant>
      <vt:variant>
        <vt:lpstr>슬라이드 제목</vt:lpstr>
      </vt:variant>
      <vt:variant>
        <vt:i4>6</vt:i4>
      </vt:variant>
    </vt:vector>
  </ep:HeadingPairs>
  <ep:TitlesOfParts>
    <vt:vector size="7" baseType="lpstr">
      <vt:lpstr>Office Theme</vt:lpstr>
      <vt:lpstr>슬라이드 1</vt:lpstr>
      <vt:lpstr>슬라이드 2</vt:lpstr>
      <vt:lpstr>슬라이드 3</vt:lpstr>
      <vt:lpstr>슬라이드 4</vt:lpstr>
      <vt:lpstr>슬라이드 5</vt:lpstr>
      <vt:lpstr>슬라이드 6</vt:lpstr>
    </vt:vector>
  </ep:TitlesOfParts>
  <ep:HyperlinkBase/>
  <ep:Application>Show</ep:Application>
  <ep:AppVersion>12.0000</ep:AppVersion>
</ep:Properties>
</file>

<file path=docProps/core.xml><?xml version="1.0" encoding="utf-8"?>
<cp:coreProperties xmlns:r="http://schemas.openxmlformats.org/officeDocument/2006/relationships" xmlns:cp="http://schemas.openxmlformats.org/package/2006/metadata/core-properties" xmlns:dc="http://purl.org/dc/elements/1.1/" xmlns:dcterms="http://purl.org/dc/terms/" xmlns:dcmitype="http://purl.org/dc/dcmitype/" xmlns:xsi="http://www.w3.org/2001/XMLSchema-instance">
  <dcterms:created xsi:type="dcterms:W3CDTF">2026-09-21T04:50:09.000</dcterms:created>
  <dc:creator>PptxGenJS</dc:creator>
  <cp:lastModifiedBy>SAMSUNG</cp:lastModifiedBy>
  <dcterms:modified xsi:type="dcterms:W3CDTF">2026-09-23T06:59:05.670</dcterms:modified>
  <cp:revision>19</cp:revision>
  <dc:subject>PptxGenJS Presentation</dc:subject>
  <dc:title>Go2 자연어 임무 수행 및 예외 대응 시스템</dc:title>
  <cp:version/>
</cp:coreProperties>
</file>

<file path=docProps/custom.xml><?xml version="1.0" encoding="utf-8"?>
<cfp:Properties xmlns:r="http://schemas.openxmlformats.org/officeDocument/2006/relationships" xmlns:cfp="http://schemas.openxmlformats.org/officeDocument/2006/custom-properties" xmlns:vt="http://schemas.openxmlformats.org/officeDocument/2006/docPropsVTypes"/>
</file>